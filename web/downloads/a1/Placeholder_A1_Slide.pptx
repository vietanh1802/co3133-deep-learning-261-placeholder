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League Spartan" charset="1" panose="00000800000000000000"/>
      <p:regular r:id="rId24"/>
    </p:embeddedFont>
    <p:embeddedFont>
      <p:font typeface="Inter Bold" charset="1" panose="02000503000000020004"/>
      <p:regular r:id="rId25"/>
    </p:embeddedFont>
    <p:embeddedFont>
      <p:font typeface="Inter" charset="1" panose="02000503000000020004"/>
      <p:regular r:id="rId26"/>
    </p:embeddedFont>
    <p:embeddedFont>
      <p:font typeface="Inter Italics" charset="1" panose="02000503000000020004"/>
      <p:regular r:id="rId28"/>
    </p:embeddedFont>
    <p:embeddedFont>
      <p:font typeface="Arial Bold" charset="1" panose="020B0704020202020204"/>
      <p:regular r:id="rId34"/>
    </p:embeddedFont>
    <p:embeddedFont>
      <p:font typeface="Arial" charset="1" panose="020B0604020202020204"/>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fonts/font28.fntdata" Type="http://schemas.openxmlformats.org/officeDocument/2006/relationships/font"/><Relationship Id="rId29" Target="notesSlides/notesSlide3.xml" Type="http://schemas.openxmlformats.org/officeDocument/2006/relationships/notesSlide"/><Relationship Id="rId3" Target="viewProps.xml" Type="http://schemas.openxmlformats.org/officeDocument/2006/relationships/view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notesSlides/notesSlide6.xml" Type="http://schemas.openxmlformats.org/officeDocument/2006/relationships/notesSlide"/><Relationship Id="rId33" Target="notesSlides/notesSlide7.xml" Type="http://schemas.openxmlformats.org/officeDocument/2006/relationships/notesSlide"/><Relationship Id="rId34" Target="fonts/font34.fntdata" Type="http://schemas.openxmlformats.org/officeDocument/2006/relationships/font"/><Relationship Id="rId35" Target="fonts/font35.fntdata" Type="http://schemas.openxmlformats.org/officeDocument/2006/relationships/font"/><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theme/theme1.xml" Type="http://schemas.openxmlformats.org/officeDocument/2006/relationships/theme"/><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Hello everyone. We studied how model architecture affects image classification accuracy, learning behavior, and errors. We describe six architectures and report test results for five, across MNIST, Fashion-MNIST, and CIFAR-10. Most of our error analysis focuses on Fashion-MNIST.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Fashion-MNIST contains seventy thousand grayscale images in ten clothing categories. Each image is twenty-eight by twenty-eight pixels. We use fifty-four thousand images for training, six thousand for validation, and ten thousand for testing. The classes are balanced. The task is to predict the clothing category from the image.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pixel histogram shows a large amount of dark background. Foreground coverage also varies by class. Pullovers occupy more of the image than sandals. On the right, we compare average class images and cluster them by similarity. Coat, Pullover, and Shirt form a similar group. We examine these classes again in the error analysis.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linear model flattens the image and maps its pixels directly to ten class scores. The MLP adds two hidden layers with ReLU and dropout. The CNN learns local features through convolution, then reduces the spatial dimensions with max pooling. Global average pooling produces the features used by the final classifier.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the sequence models, each image row becomes one input step. The LSTM carries a cell state and a hidden state, controlled by three gates. The GRU uses reset and update gates with a single hidden state. Both use shared weights across the twenty-eight steps.</a:t>
            </a:r>
          </a:p>
          <a:p>
            <a:r>
              <a:rPr lang="en-US"/>
              <a:t>The Transformer embeds the rows, adds positional information, and applies two encoder layers. It averages the output tokens before classification. Our saved test results cover the GRU and Transformer. The LSTM is included here as an architecture description.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train with cross-entropy and select the checkpoint with the lowest validation loss. We then evaluate it on the held-out test set. Accuracy measures the fraction of correct predictions. Macro-F1 gives every class equal weight. Per-class recall shows which categories the model has difficulty recognizing.</a:t>
            </a:r>
          </a:p>
          <a:p>
            <a:r>
              <a:rPr lang="en-US"/>
              <a:t>Source: results/a1/*/test_result.json and training_summary.json. Checkpoint: lowest validation loss.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results come from fifty training epochs with one seed per configuration. The Transformer has the highest test accuracy on all three datasets. It reaches ninety point four three percent on Fashion-MNIST and sixty-eight point seven one percent on CIFAR-10. The CNN improves substantially over the MLP on CIFAR-10, while the MLP performs slightly better on Fashion-MNIST.</a:t>
            </a:r>
          </a:p>
          <a:p>
            <a:r>
              <a:rPr lang="en-US"/>
              <a:t>Source: results/a1/comparison_test.csv. Accuracy and Macro-F1 in percent, rounded to two decimals; seed 42.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linear model plateaus early. The MLP and CNN reach lower losses, while the GRU and Transformer have the lowest validation losses. The CNN's validation curve fluctuates and rises at the final epoch. Its selected checkpoint is epoch forty-eight, where validation loss is lowest.</a:t>
            </a:r>
          </a:p>
          <a:p>
            <a:r>
              <a:rPr lang="en-US"/>
              <a:t>Source: results/a1/comparison/fashion_mnist_learning.png. Six models; loss axis 0 to 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Rows show the true class, and columns show the predicted class. Cell numbers are sample counts. Colors show the proportion within each true class, so the diagonal gives class recall.</a:t>
            </a:r>
          </a:p>
          <a:p>
            <a:r>
              <a:rPr lang="en-US"/>
              <a:t>Compared with the MLP, the CNN raises Pullover recall from seventy-nine point eight to eighty-six point three percent. Coat recall falls from seventy-nine point seven to sixty-seven point eight percent. Shirt recall also falls slightly. The GRU and Transformer recognize about seventy-two percent of shirts. The differences depend on the class.</a:t>
            </a:r>
          </a:p>
          <a:p>
            <a:r>
              <a:rPr lang="en-US"/>
              <a:t>Source: results/a1/fashion_mnist_{linear,mlp,cnn,gru,transformer}_seed42/test_confusion_matrix.png. LSTM rendered from fashion_mnist_lstm_seed42/test_evidence.pt with the same project palette; counts unchanged.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we compare the models on the same test images. The first row shows cases where the CNN corrects an MLP error. In the middle row, both models fail. In the last row, the MLP is correct and the CNN is wrong. We selected the first two test images in each category. This gives us a fixed rule for choosing examples.</a:t>
            </a:r>
          </a:p>
          <a:p>
            <a:r>
              <a:rPr lang="en-US"/>
              <a:t>Source: results/a1/comparison/fashion_mnist_shared_images.png and comparison_selection.json. Six-model predictions on the same test images.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Fashion-MNIST, the GRU reaches eighty-nine point eight eight percent accuracy with about sixty-two thousand parameters. The Transformer gains zero point five five percentage points with about nineteen times as many parameters. The GRU therefore offers a useful compromise between accuracy and model size in this experiment.</a:t>
            </a:r>
          </a:p>
          <a:p>
            <a:r>
              <a:rPr lang="en-US"/>
              <a:t>Source: results/a1/comparison_test.csv. LSTM parameter counts: 82,186 for MNIST/Fashion-MNIST; 117,002 for CIFAR-10.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Transformer has the highest accuracy in our runs, and the GRU comes close on Fashion-MNIST with far fewer parameters. The error analysis also shows that improvements vary across clothing categories. These results use one seed and our current configurations. The next step is to repeat the runs with several seeds and check whether these differences persist.</a:t>
            </a:r>
          </a:p>
          <a:p>
            <a:r>
              <a:rPr lang="en-US"/>
              <a:t>Source: results/a1/comparison_test.csv and fashion_mnist_{mlp,cnn}_seed42/test_error_analysis.json. Single-seed observations.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additional CNN examples from Fashion-MNIST. The confident errors include footwear confusions and a T-shirt predicted as a bag. The uncertain errors have much lower predicted probabilities. The highest-confidence correct examples shown here are all bags. These selections show different prediction behaviors. A calibration study would require a separate analysis across the test set.</a:t>
            </a:r>
          </a:p>
          <a:p>
            <a:r>
              <a:rPr lang="en-US"/>
              <a:t>Source: results/a1/fashion_mnist_cnn_seed42/test_{confident_errors,uncertain_errors,confident_correct}.png.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CIFAR-10, the Transformer reaches sixty-eight point seven one percent accuracy. The matrix shows frequent confusion between cats and dogs. Here, two hundred and eleven cats are predicted as dogs, and one hundred and sixty-five dogs are predicted as cats. The examples also include confident mistakes and uncertain predictions. This is why we examine class errors alongside overall accuracy. Thank you.</a:t>
            </a:r>
          </a:p>
          <a:p>
            <a:r>
              <a:rPr lang="en-US"/>
              <a:t>Source: results/a1/cifar10_transformer_seed42/test_{confusion_matrix,confident_errors,confident_correct,uncertain_errors}.png.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jpe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notesSlides/notesSlide9.xml" Type="http://schemas.openxmlformats.org/officeDocument/2006/relationships/notesSlide"/><Relationship Id="rId3" Target="../media/image1.png" Type="http://schemas.openxmlformats.org/officeDocument/2006/relationships/image"/><Relationship Id="rId4" Target="../media/image15.sv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 Id="rId8" Target="../media/image20.png" Type="http://schemas.openxmlformats.org/officeDocument/2006/relationships/image"/><Relationship Id="rId9"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15.svg" Type="http://schemas.openxmlformats.org/officeDocument/2006/relationships/image"/><Relationship Id="rId5" Target="../media/image2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1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1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15.sv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27.png" Type="http://schemas.openxmlformats.org/officeDocument/2006/relationships/image"/><Relationship Id="rId6" Target="../media/image28.png" Type="http://schemas.openxmlformats.org/officeDocument/2006/relationships/image"/><Relationship Id="rId7" Target="../media/image29.png" Type="http://schemas.openxmlformats.org/officeDocument/2006/relationships/image"/><Relationship Id="rId8" Target="../media/image3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AF4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223" t="0" r="-223" b="0"/>
            </a:stretch>
          </a:blipFill>
        </p:spPr>
      </p:sp>
      <p:grpSp>
        <p:nvGrpSpPr>
          <p:cNvPr name="Group 3" id="3"/>
          <p:cNvGrpSpPr/>
          <p:nvPr/>
        </p:nvGrpSpPr>
        <p:grpSpPr>
          <a:xfrm rot="0">
            <a:off x="1028700" y="1945263"/>
            <a:ext cx="16631793" cy="2539769"/>
            <a:chOff x="0" y="0"/>
            <a:chExt cx="30411440" cy="4644000"/>
          </a:xfrm>
        </p:grpSpPr>
        <p:sp>
          <p:nvSpPr>
            <p:cNvPr name="Freeform 4" id="4"/>
            <p:cNvSpPr/>
            <p:nvPr/>
          </p:nvSpPr>
          <p:spPr>
            <a:xfrm flipH="false" flipV="false" rot="0">
              <a:off x="0" y="0"/>
              <a:ext cx="30411446" cy="4644004"/>
            </a:xfrm>
            <a:custGeom>
              <a:avLst/>
              <a:gdLst/>
              <a:ahLst/>
              <a:cxnLst/>
              <a:rect r="r" b="b" t="t" l="l"/>
              <a:pathLst>
                <a:path h="4644004" w="30411446">
                  <a:moveTo>
                    <a:pt x="0" y="0"/>
                  </a:moveTo>
                  <a:lnTo>
                    <a:pt x="30411446" y="0"/>
                  </a:lnTo>
                  <a:lnTo>
                    <a:pt x="30411446" y="4644004"/>
                  </a:lnTo>
                  <a:lnTo>
                    <a:pt x="0" y="4644004"/>
                  </a:lnTo>
                  <a:close/>
                </a:path>
              </a:pathLst>
            </a:custGeom>
            <a:blipFill>
              <a:blip r:embed="rId5">
                <a:alphaModFix amt="0"/>
              </a:blip>
              <a:stretch>
                <a:fillRect l="0" t="-45334" r="25286" b="-45333"/>
              </a:stretch>
            </a:blipFill>
          </p:spPr>
        </p:sp>
        <p:sp>
          <p:nvSpPr>
            <p:cNvPr name="TextBox 5" id="5"/>
            <p:cNvSpPr txBox="true"/>
            <p:nvPr/>
          </p:nvSpPr>
          <p:spPr>
            <a:xfrm>
              <a:off x="0" y="-9525"/>
              <a:ext cx="30411440" cy="4653525"/>
            </a:xfrm>
            <a:prstGeom prst="rect">
              <a:avLst/>
            </a:prstGeom>
          </p:spPr>
          <p:txBody>
            <a:bodyPr anchor="ctr" rtlCol="false" tIns="0" lIns="0" bIns="0" rIns="0"/>
            <a:lstStyle/>
            <a:p>
              <a:pPr algn="ctr">
                <a:lnSpc>
                  <a:spcPts val="6000"/>
                </a:lnSpc>
              </a:pPr>
              <a:r>
                <a:rPr lang="en-US" sz="5000">
                  <a:solidFill>
                    <a:srgbClr val="000000"/>
                  </a:solidFill>
                  <a:latin typeface="League Spartan"/>
                  <a:ea typeface="League Spartan"/>
                  <a:cs typeface="League Spartan"/>
                  <a:sym typeface="League Spartan"/>
                </a:rPr>
                <a:t>From Linear Models to Modern Sequence Models: A Comparative Study for Image Classification</a:t>
              </a:r>
            </a:p>
          </p:txBody>
        </p:sp>
      </p:grpSp>
      <p:sp>
        <p:nvSpPr>
          <p:cNvPr name="TextBox 6" id="6"/>
          <p:cNvSpPr txBox="true"/>
          <p:nvPr/>
        </p:nvSpPr>
        <p:spPr>
          <a:xfrm rot="0">
            <a:off x="740560" y="4485032"/>
            <a:ext cx="16858355" cy="1800225"/>
          </a:xfrm>
          <a:prstGeom prst="rect">
            <a:avLst/>
          </a:prstGeom>
        </p:spPr>
        <p:txBody>
          <a:bodyPr anchor="t" rtlCol="false" tIns="0" lIns="0" bIns="0" rIns="0">
            <a:spAutoFit/>
          </a:bodyPr>
          <a:lstStyle/>
          <a:p>
            <a:pPr algn="ctr">
              <a:lnSpc>
                <a:spcPts val="4799"/>
              </a:lnSpc>
            </a:pPr>
            <a:r>
              <a:rPr lang="en-US" sz="3999" i="true">
                <a:solidFill>
                  <a:srgbClr val="0E7490"/>
                </a:solidFill>
                <a:latin typeface="League Spartan"/>
                <a:ea typeface="League Spartan"/>
                <a:cs typeface="League Spartan"/>
                <a:sym typeface="League Spartan"/>
              </a:rPr>
              <a:t>CO3133 - Deep Learning and Its Applications</a:t>
            </a:r>
          </a:p>
          <a:p>
            <a:pPr algn="ctr">
              <a:lnSpc>
                <a:spcPts val="4799"/>
              </a:lnSpc>
            </a:pPr>
            <a:r>
              <a:rPr lang="en-US" sz="3999" i="true">
                <a:solidFill>
                  <a:srgbClr val="0E7490"/>
                </a:solidFill>
                <a:latin typeface="League Spartan"/>
                <a:ea typeface="League Spartan"/>
                <a:cs typeface="League Spartan"/>
                <a:sym typeface="League Spartan"/>
              </a:rPr>
              <a:t>Assignment 1 </a:t>
            </a:r>
          </a:p>
          <a:p>
            <a:pPr algn="ctr">
              <a:lnSpc>
                <a:spcPts val="4799"/>
              </a:lnSpc>
            </a:pPr>
            <a:r>
              <a:rPr lang="en-US" sz="3999" i="true">
                <a:solidFill>
                  <a:srgbClr val="0E7490"/>
                </a:solidFill>
                <a:latin typeface="League Spartan"/>
                <a:ea typeface="League Spartan"/>
                <a:cs typeface="League Spartan"/>
                <a:sym typeface="League Spartan"/>
              </a:rPr>
              <a:t>Group: Placeholder</a:t>
            </a:r>
          </a:p>
        </p:txBody>
      </p:sp>
      <p:grpSp>
        <p:nvGrpSpPr>
          <p:cNvPr name="Group 7" id="7"/>
          <p:cNvGrpSpPr/>
          <p:nvPr/>
        </p:nvGrpSpPr>
        <p:grpSpPr>
          <a:xfrm rot="0">
            <a:off x="0" y="0"/>
            <a:ext cx="18288000" cy="133350"/>
            <a:chOff x="0" y="0"/>
            <a:chExt cx="24384000" cy="177800"/>
          </a:xfrm>
        </p:grpSpPr>
        <p:sp>
          <p:nvSpPr>
            <p:cNvPr name="Freeform 8" id="8"/>
            <p:cNvSpPr/>
            <p:nvPr/>
          </p:nvSpPr>
          <p:spPr>
            <a:xfrm flipH="false" flipV="false" rot="0">
              <a:off x="0" y="0"/>
              <a:ext cx="24384000" cy="177800"/>
            </a:xfrm>
            <a:custGeom>
              <a:avLst/>
              <a:gdLst/>
              <a:ahLst/>
              <a:cxnLst/>
              <a:rect r="r" b="b" t="t" l="l"/>
              <a:pathLst>
                <a:path h="177800" w="24384000">
                  <a:moveTo>
                    <a:pt x="0" y="0"/>
                  </a:moveTo>
                  <a:lnTo>
                    <a:pt x="24384000" y="0"/>
                  </a:lnTo>
                  <a:lnTo>
                    <a:pt x="24384000" y="177800"/>
                  </a:lnTo>
                  <a:lnTo>
                    <a:pt x="0" y="177800"/>
                  </a:lnTo>
                  <a:close/>
                </a:path>
              </a:pathLst>
            </a:custGeom>
            <a:solidFill>
              <a:srgbClr val="0B1F3A"/>
            </a:solidFill>
          </p:spPr>
        </p:sp>
        <p:sp>
          <p:nvSpPr>
            <p:cNvPr name="TextBox 9" id="9"/>
            <p:cNvSpPr txBox="true"/>
            <p:nvPr/>
          </p:nvSpPr>
          <p:spPr>
            <a:xfrm>
              <a:off x="0" y="-38100"/>
              <a:ext cx="24384000" cy="2159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344434" y="314644"/>
            <a:ext cx="8948888" cy="1383612"/>
            <a:chOff x="0" y="0"/>
            <a:chExt cx="11931850" cy="1844816"/>
          </a:xfrm>
        </p:grpSpPr>
        <p:sp>
          <p:nvSpPr>
            <p:cNvPr name="TextBox 11" id="11"/>
            <p:cNvSpPr txBox="true"/>
            <p:nvPr/>
          </p:nvSpPr>
          <p:spPr>
            <a:xfrm rot="0">
              <a:off x="2214840" y="1098934"/>
              <a:ext cx="8868500" cy="457496"/>
            </a:xfrm>
            <a:prstGeom prst="rect">
              <a:avLst/>
            </a:prstGeom>
          </p:spPr>
          <p:txBody>
            <a:bodyPr anchor="t" rtlCol="false" tIns="0" lIns="0" bIns="0" rIns="0">
              <a:spAutoFit/>
            </a:bodyPr>
            <a:lstStyle/>
            <a:p>
              <a:pPr algn="just">
                <a:lnSpc>
                  <a:spcPts val="2540"/>
                </a:lnSpc>
              </a:pPr>
              <a:r>
                <a:rPr lang="en-US" b="true" sz="2540" spc="-50">
                  <a:solidFill>
                    <a:srgbClr val="14243C"/>
                  </a:solidFill>
                  <a:latin typeface="Inter Bold"/>
                  <a:ea typeface="Inter Bold"/>
                  <a:cs typeface="Inter Bold"/>
                  <a:sym typeface="Inter Bold"/>
                </a:rPr>
                <a:t>Ho Chi Minh City University of Technology</a:t>
              </a:r>
            </a:p>
          </p:txBody>
        </p:sp>
        <p:sp>
          <p:nvSpPr>
            <p:cNvPr name="TextBox 12" id="12"/>
            <p:cNvSpPr txBox="true"/>
            <p:nvPr/>
          </p:nvSpPr>
          <p:spPr>
            <a:xfrm rot="0">
              <a:off x="2233323" y="539155"/>
              <a:ext cx="9698527" cy="507914"/>
            </a:xfrm>
            <a:prstGeom prst="rect">
              <a:avLst/>
            </a:prstGeom>
          </p:spPr>
          <p:txBody>
            <a:bodyPr anchor="t" rtlCol="false" tIns="0" lIns="0" bIns="0" rIns="0">
              <a:spAutoFit/>
            </a:bodyPr>
            <a:lstStyle/>
            <a:p>
              <a:pPr algn="l">
                <a:lnSpc>
                  <a:spcPts val="3045"/>
                </a:lnSpc>
                <a:spcBef>
                  <a:spcPct val="0"/>
                </a:spcBef>
              </a:pPr>
              <a:r>
                <a:rPr lang="en-US" b="true" sz="2537" spc="-75">
                  <a:solidFill>
                    <a:srgbClr val="14243C"/>
                  </a:solidFill>
                  <a:latin typeface="Inter Bold"/>
                  <a:ea typeface="Inter Bold"/>
                  <a:cs typeface="Inter Bold"/>
                  <a:sym typeface="Inter Bold"/>
                </a:rPr>
                <a:t>Vietnam National University Ho Chi Minh City </a:t>
              </a:r>
            </a:p>
          </p:txBody>
        </p:sp>
        <p:sp>
          <p:nvSpPr>
            <p:cNvPr name="Freeform 13" id="13"/>
            <p:cNvSpPr/>
            <p:nvPr/>
          </p:nvSpPr>
          <p:spPr>
            <a:xfrm flipH="false" flipV="false" rot="0">
              <a:off x="0" y="0"/>
              <a:ext cx="2214840" cy="1844816"/>
            </a:xfrm>
            <a:custGeom>
              <a:avLst/>
              <a:gdLst/>
              <a:ahLst/>
              <a:cxnLst/>
              <a:rect r="r" b="b" t="t" l="l"/>
              <a:pathLst>
                <a:path h="1844816" w="2214840">
                  <a:moveTo>
                    <a:pt x="0" y="0"/>
                  </a:moveTo>
                  <a:lnTo>
                    <a:pt x="2214840" y="0"/>
                  </a:lnTo>
                  <a:lnTo>
                    <a:pt x="2214840" y="1844816"/>
                  </a:lnTo>
                  <a:lnTo>
                    <a:pt x="0" y="1844816"/>
                  </a:lnTo>
                  <a:lnTo>
                    <a:pt x="0" y="0"/>
                  </a:lnTo>
                  <a:close/>
                </a:path>
              </a:pathLst>
            </a:custGeom>
            <a:blipFill>
              <a:blip r:embed="rId6"/>
              <a:stretch>
                <a:fillRect l="0" t="-4672" r="0" b="-4672"/>
              </a:stretch>
            </a:blipFill>
          </p:spPr>
        </p:sp>
      </p:grpSp>
      <p:sp>
        <p:nvSpPr>
          <p:cNvPr name="TextBox 14" id="14"/>
          <p:cNvSpPr txBox="true"/>
          <p:nvPr/>
        </p:nvSpPr>
        <p:spPr>
          <a:xfrm rot="0">
            <a:off x="4424062" y="6380507"/>
            <a:ext cx="4217039" cy="514350"/>
          </a:xfrm>
          <a:prstGeom prst="rect">
            <a:avLst/>
          </a:prstGeom>
        </p:spPr>
        <p:txBody>
          <a:bodyPr anchor="t" rtlCol="false" tIns="0" lIns="0" bIns="0" rIns="0">
            <a:spAutoFit/>
          </a:bodyPr>
          <a:lstStyle/>
          <a:p>
            <a:pPr algn="l">
              <a:lnSpc>
                <a:spcPts val="4200"/>
              </a:lnSpc>
            </a:pPr>
            <a:r>
              <a:rPr lang="en-US" sz="3000" b="true">
                <a:solidFill>
                  <a:srgbClr val="0B1F3A"/>
                </a:solidFill>
                <a:latin typeface="Inter Bold"/>
                <a:ea typeface="Inter Bold"/>
                <a:cs typeface="Inter Bold"/>
                <a:sym typeface="Inter Bold"/>
              </a:rPr>
              <a:t>Student Name</a:t>
            </a:r>
          </a:p>
        </p:txBody>
      </p:sp>
      <p:sp>
        <p:nvSpPr>
          <p:cNvPr name="TextBox 15" id="15"/>
          <p:cNvSpPr txBox="true"/>
          <p:nvPr/>
        </p:nvSpPr>
        <p:spPr>
          <a:xfrm rot="0">
            <a:off x="11091562" y="6380507"/>
            <a:ext cx="2476500" cy="514350"/>
          </a:xfrm>
          <a:prstGeom prst="rect">
            <a:avLst/>
          </a:prstGeom>
        </p:spPr>
        <p:txBody>
          <a:bodyPr anchor="t" rtlCol="false" tIns="0" lIns="0" bIns="0" rIns="0">
            <a:spAutoFit/>
          </a:bodyPr>
          <a:lstStyle/>
          <a:p>
            <a:pPr algn="l">
              <a:lnSpc>
                <a:spcPts val="4200"/>
              </a:lnSpc>
            </a:pPr>
            <a:r>
              <a:rPr lang="en-US" sz="3000" b="true">
                <a:solidFill>
                  <a:srgbClr val="0B1F3A"/>
                </a:solidFill>
                <a:latin typeface="Inter Bold"/>
                <a:ea typeface="Inter Bold"/>
                <a:cs typeface="Inter Bold"/>
                <a:sym typeface="Inter Bold"/>
              </a:rPr>
              <a:t>Student ID</a:t>
            </a:r>
          </a:p>
        </p:txBody>
      </p:sp>
      <p:sp>
        <p:nvSpPr>
          <p:cNvPr name="TextBox 16" id="16"/>
          <p:cNvSpPr txBox="true"/>
          <p:nvPr/>
        </p:nvSpPr>
        <p:spPr>
          <a:xfrm rot="0">
            <a:off x="4424062" y="6894857"/>
            <a:ext cx="4545351" cy="412750"/>
          </a:xfrm>
          <a:prstGeom prst="rect">
            <a:avLst/>
          </a:prstGeom>
        </p:spPr>
        <p:txBody>
          <a:bodyPr anchor="t" rtlCol="false" tIns="0" lIns="0" bIns="0" rIns="0">
            <a:spAutoFit/>
          </a:bodyPr>
          <a:lstStyle/>
          <a:p>
            <a:pPr algn="l">
              <a:lnSpc>
                <a:spcPts val="3499"/>
              </a:lnSpc>
            </a:pPr>
            <a:r>
              <a:rPr lang="en-US" sz="2499">
                <a:solidFill>
                  <a:srgbClr val="0B1F3A"/>
                </a:solidFill>
                <a:latin typeface="Inter"/>
                <a:ea typeface="Inter"/>
                <a:cs typeface="Inter"/>
                <a:sym typeface="Inter"/>
              </a:rPr>
              <a:t>Tran Nguyen Giap</a:t>
            </a:r>
          </a:p>
        </p:txBody>
      </p:sp>
      <p:sp>
        <p:nvSpPr>
          <p:cNvPr name="TextBox 17" id="17"/>
          <p:cNvSpPr txBox="true"/>
          <p:nvPr/>
        </p:nvSpPr>
        <p:spPr>
          <a:xfrm rot="0">
            <a:off x="11091562" y="6894857"/>
            <a:ext cx="2476500" cy="412750"/>
          </a:xfrm>
          <a:prstGeom prst="rect">
            <a:avLst/>
          </a:prstGeom>
        </p:spPr>
        <p:txBody>
          <a:bodyPr anchor="t" rtlCol="false" tIns="0" lIns="0" bIns="0" rIns="0">
            <a:spAutoFit/>
          </a:bodyPr>
          <a:lstStyle/>
          <a:p>
            <a:pPr algn="l">
              <a:lnSpc>
                <a:spcPts val="3499"/>
              </a:lnSpc>
            </a:pPr>
            <a:r>
              <a:rPr lang="en-US" sz="2499">
                <a:solidFill>
                  <a:srgbClr val="0B1F3A"/>
                </a:solidFill>
                <a:latin typeface="Inter"/>
                <a:ea typeface="Inter"/>
                <a:cs typeface="Inter"/>
                <a:sym typeface="Inter"/>
              </a:rPr>
              <a:t>2352284</a:t>
            </a:r>
          </a:p>
        </p:txBody>
      </p:sp>
      <p:sp>
        <p:nvSpPr>
          <p:cNvPr name="TextBox 18" id="18"/>
          <p:cNvSpPr txBox="true"/>
          <p:nvPr/>
        </p:nvSpPr>
        <p:spPr>
          <a:xfrm rot="0">
            <a:off x="4424062" y="7390157"/>
            <a:ext cx="4076334" cy="412750"/>
          </a:xfrm>
          <a:prstGeom prst="rect">
            <a:avLst/>
          </a:prstGeom>
        </p:spPr>
        <p:txBody>
          <a:bodyPr anchor="t" rtlCol="false" tIns="0" lIns="0" bIns="0" rIns="0">
            <a:spAutoFit/>
          </a:bodyPr>
          <a:lstStyle/>
          <a:p>
            <a:pPr algn="l">
              <a:lnSpc>
                <a:spcPts val="3499"/>
              </a:lnSpc>
            </a:pPr>
            <a:r>
              <a:rPr lang="en-US" sz="2499">
                <a:solidFill>
                  <a:srgbClr val="0B1F3A"/>
                </a:solidFill>
                <a:latin typeface="Inter"/>
                <a:ea typeface="Inter"/>
                <a:cs typeface="Inter"/>
                <a:sym typeface="Inter"/>
              </a:rPr>
              <a:t>Vu Duc Viet Anh</a:t>
            </a:r>
          </a:p>
        </p:txBody>
      </p:sp>
      <p:sp>
        <p:nvSpPr>
          <p:cNvPr name="TextBox 19" id="19"/>
          <p:cNvSpPr txBox="true"/>
          <p:nvPr/>
        </p:nvSpPr>
        <p:spPr>
          <a:xfrm rot="0">
            <a:off x="11091562" y="7390157"/>
            <a:ext cx="2476500" cy="412750"/>
          </a:xfrm>
          <a:prstGeom prst="rect">
            <a:avLst/>
          </a:prstGeom>
        </p:spPr>
        <p:txBody>
          <a:bodyPr anchor="t" rtlCol="false" tIns="0" lIns="0" bIns="0" rIns="0">
            <a:spAutoFit/>
          </a:bodyPr>
          <a:lstStyle/>
          <a:p>
            <a:pPr algn="l">
              <a:lnSpc>
                <a:spcPts val="3499"/>
              </a:lnSpc>
            </a:pPr>
            <a:r>
              <a:rPr lang="en-US" sz="2499">
                <a:solidFill>
                  <a:srgbClr val="0B1F3A"/>
                </a:solidFill>
                <a:latin typeface="Inter"/>
                <a:ea typeface="Inter"/>
                <a:cs typeface="Inter"/>
                <a:sym typeface="Inter"/>
              </a:rPr>
              <a:t>2352074</a:t>
            </a:r>
          </a:p>
        </p:txBody>
      </p:sp>
      <p:sp>
        <p:nvSpPr>
          <p:cNvPr name="TextBox 20" id="20"/>
          <p:cNvSpPr txBox="true"/>
          <p:nvPr/>
        </p:nvSpPr>
        <p:spPr>
          <a:xfrm rot="0">
            <a:off x="4424062" y="7885457"/>
            <a:ext cx="4217039" cy="412750"/>
          </a:xfrm>
          <a:prstGeom prst="rect">
            <a:avLst/>
          </a:prstGeom>
        </p:spPr>
        <p:txBody>
          <a:bodyPr anchor="t" rtlCol="false" tIns="0" lIns="0" bIns="0" rIns="0">
            <a:spAutoFit/>
          </a:bodyPr>
          <a:lstStyle/>
          <a:p>
            <a:pPr algn="l">
              <a:lnSpc>
                <a:spcPts val="3499"/>
              </a:lnSpc>
            </a:pPr>
            <a:r>
              <a:rPr lang="en-US" sz="2499">
                <a:solidFill>
                  <a:srgbClr val="0B1F3A"/>
                </a:solidFill>
                <a:latin typeface="Inter"/>
                <a:ea typeface="Inter"/>
                <a:cs typeface="Inter"/>
                <a:sym typeface="Inter"/>
              </a:rPr>
              <a:t>Tran Lam Anh</a:t>
            </a:r>
          </a:p>
        </p:txBody>
      </p:sp>
      <p:sp>
        <p:nvSpPr>
          <p:cNvPr name="TextBox 21" id="21"/>
          <p:cNvSpPr txBox="true"/>
          <p:nvPr/>
        </p:nvSpPr>
        <p:spPr>
          <a:xfrm rot="0">
            <a:off x="11091562" y="7885457"/>
            <a:ext cx="2476500" cy="412750"/>
          </a:xfrm>
          <a:prstGeom prst="rect">
            <a:avLst/>
          </a:prstGeom>
        </p:spPr>
        <p:txBody>
          <a:bodyPr anchor="t" rtlCol="false" tIns="0" lIns="0" bIns="0" rIns="0">
            <a:spAutoFit/>
          </a:bodyPr>
          <a:lstStyle/>
          <a:p>
            <a:pPr algn="l">
              <a:lnSpc>
                <a:spcPts val="3499"/>
              </a:lnSpc>
            </a:pPr>
            <a:r>
              <a:rPr lang="en-US" sz="2499">
                <a:solidFill>
                  <a:srgbClr val="0B1F3A"/>
                </a:solidFill>
                <a:latin typeface="Inter"/>
                <a:ea typeface="Inter"/>
                <a:cs typeface="Inter"/>
                <a:sym typeface="Inter"/>
              </a:rPr>
              <a:t>2352067</a:t>
            </a:r>
          </a:p>
        </p:txBody>
      </p:sp>
      <p:sp>
        <p:nvSpPr>
          <p:cNvPr name="TextBox 22" id="22"/>
          <p:cNvSpPr txBox="true"/>
          <p:nvPr/>
        </p:nvSpPr>
        <p:spPr>
          <a:xfrm rot="0">
            <a:off x="4424062" y="8380757"/>
            <a:ext cx="4091967" cy="412750"/>
          </a:xfrm>
          <a:prstGeom prst="rect">
            <a:avLst/>
          </a:prstGeom>
        </p:spPr>
        <p:txBody>
          <a:bodyPr anchor="t" rtlCol="false" tIns="0" lIns="0" bIns="0" rIns="0">
            <a:spAutoFit/>
          </a:bodyPr>
          <a:lstStyle/>
          <a:p>
            <a:pPr algn="l">
              <a:lnSpc>
                <a:spcPts val="3499"/>
              </a:lnSpc>
            </a:pPr>
            <a:r>
              <a:rPr lang="en-US" sz="2499">
                <a:solidFill>
                  <a:srgbClr val="0B1F3A"/>
                </a:solidFill>
                <a:latin typeface="Inter"/>
                <a:ea typeface="Inter"/>
                <a:cs typeface="Inter"/>
                <a:sym typeface="Inter"/>
              </a:rPr>
              <a:t>Le Nguyen Khang</a:t>
            </a:r>
          </a:p>
        </p:txBody>
      </p:sp>
      <p:sp>
        <p:nvSpPr>
          <p:cNvPr name="TextBox 23" id="23"/>
          <p:cNvSpPr txBox="true"/>
          <p:nvPr/>
        </p:nvSpPr>
        <p:spPr>
          <a:xfrm rot="0">
            <a:off x="11091562" y="8380757"/>
            <a:ext cx="2476500" cy="412750"/>
          </a:xfrm>
          <a:prstGeom prst="rect">
            <a:avLst/>
          </a:prstGeom>
        </p:spPr>
        <p:txBody>
          <a:bodyPr anchor="t" rtlCol="false" tIns="0" lIns="0" bIns="0" rIns="0">
            <a:spAutoFit/>
          </a:bodyPr>
          <a:lstStyle/>
          <a:p>
            <a:pPr algn="l">
              <a:lnSpc>
                <a:spcPts val="3499"/>
              </a:lnSpc>
            </a:pPr>
            <a:r>
              <a:rPr lang="en-US" sz="2499">
                <a:solidFill>
                  <a:srgbClr val="0B1F3A"/>
                </a:solidFill>
                <a:latin typeface="Inter"/>
                <a:ea typeface="Inter"/>
                <a:cs typeface="Inter"/>
                <a:sym typeface="Inter"/>
              </a:rPr>
              <a:t>2352470</a:t>
            </a:r>
          </a:p>
        </p:txBody>
      </p:sp>
      <p:sp>
        <p:nvSpPr>
          <p:cNvPr name="TextBox 24" id="24"/>
          <p:cNvSpPr txBox="true"/>
          <p:nvPr/>
        </p:nvSpPr>
        <p:spPr>
          <a:xfrm rot="0">
            <a:off x="7263547" y="9191625"/>
            <a:ext cx="3812381" cy="605160"/>
          </a:xfrm>
          <a:prstGeom prst="rect">
            <a:avLst/>
          </a:prstGeom>
        </p:spPr>
        <p:txBody>
          <a:bodyPr anchor="t" rtlCol="false" tIns="0" lIns="0" bIns="0" rIns="0">
            <a:spAutoFit/>
          </a:bodyPr>
          <a:lstStyle/>
          <a:p>
            <a:pPr algn="ctr">
              <a:lnSpc>
                <a:spcPts val="4969"/>
              </a:lnSpc>
              <a:spcBef>
                <a:spcPct val="0"/>
              </a:spcBef>
            </a:pPr>
            <a:r>
              <a:rPr lang="en-US" b="true" sz="3549" spc="-70">
                <a:solidFill>
                  <a:srgbClr val="000000"/>
                </a:solidFill>
                <a:latin typeface="Inter Bold"/>
                <a:ea typeface="Inter Bold"/>
                <a:cs typeface="Inter Bold"/>
                <a:sym typeface="Inter Bold"/>
              </a:rPr>
              <a:t>October 28</a:t>
            </a:r>
            <a:r>
              <a:rPr lang="en-US" b="true" sz="3549" spc="-70">
                <a:solidFill>
                  <a:srgbClr val="000000"/>
                </a:solidFill>
                <a:latin typeface="Inter Bold"/>
                <a:ea typeface="Inter Bold"/>
                <a:cs typeface="Inter Bold"/>
                <a:sym typeface="Inter Bold"/>
              </a:rPr>
              <a:t>th</a:t>
            </a:r>
            <a:r>
              <a:rPr lang="en-US" b="true" sz="3549" spc="-70">
                <a:solidFill>
                  <a:srgbClr val="000000"/>
                </a:solidFill>
                <a:latin typeface="Inter Bold"/>
                <a:ea typeface="Inter Bold"/>
                <a:cs typeface="Inter Bold"/>
                <a:sym typeface="Inter Bold"/>
              </a:rPr>
              <a:t>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AF4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223" t="0" r="-223" b="0"/>
            </a:stretch>
          </a:blipFill>
        </p:spPr>
      </p:sp>
      <p:grpSp>
        <p:nvGrpSpPr>
          <p:cNvPr name="Group 3" id="3"/>
          <p:cNvGrpSpPr/>
          <p:nvPr/>
        </p:nvGrpSpPr>
        <p:grpSpPr>
          <a:xfrm rot="0">
            <a:off x="0" y="0"/>
            <a:ext cx="18288000" cy="133350"/>
            <a:chOff x="0" y="0"/>
            <a:chExt cx="24384000" cy="177800"/>
          </a:xfrm>
        </p:grpSpPr>
        <p:sp>
          <p:nvSpPr>
            <p:cNvPr name="Freeform 4" id="4"/>
            <p:cNvSpPr/>
            <p:nvPr/>
          </p:nvSpPr>
          <p:spPr>
            <a:xfrm flipH="false" flipV="false" rot="0">
              <a:off x="0" y="0"/>
              <a:ext cx="24384000" cy="177800"/>
            </a:xfrm>
            <a:custGeom>
              <a:avLst/>
              <a:gdLst/>
              <a:ahLst/>
              <a:cxnLst/>
              <a:rect r="r" b="b" t="t" l="l"/>
              <a:pathLst>
                <a:path h="177800" w="24384000">
                  <a:moveTo>
                    <a:pt x="0" y="0"/>
                  </a:moveTo>
                  <a:lnTo>
                    <a:pt x="24384000" y="0"/>
                  </a:lnTo>
                  <a:lnTo>
                    <a:pt x="24384000" y="177800"/>
                  </a:lnTo>
                  <a:lnTo>
                    <a:pt x="0" y="177800"/>
                  </a:lnTo>
                  <a:close/>
                </a:path>
              </a:pathLst>
            </a:custGeom>
            <a:solidFill>
              <a:srgbClr val="0B1F3A"/>
            </a:solidFill>
          </p:spPr>
        </p:sp>
        <p:sp>
          <p:nvSpPr>
            <p:cNvPr name="TextBox 5" id="5"/>
            <p:cNvSpPr txBox="true"/>
            <p:nvPr/>
          </p:nvSpPr>
          <p:spPr>
            <a:xfrm>
              <a:off x="0" y="-38100"/>
              <a:ext cx="24384000" cy="2159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600152" y="647700"/>
            <a:ext cx="16858355" cy="762000"/>
          </a:xfrm>
          <a:prstGeom prst="rect">
            <a:avLst/>
          </a:prstGeom>
        </p:spPr>
        <p:txBody>
          <a:bodyPr anchor="t" rtlCol="false" tIns="0" lIns="0" bIns="0" rIns="0">
            <a:spAutoFit/>
          </a:bodyPr>
          <a:lstStyle/>
          <a:p>
            <a:pPr algn="l">
              <a:lnSpc>
                <a:spcPts val="6048"/>
              </a:lnSpc>
            </a:pPr>
            <a:r>
              <a:rPr lang="en-US" sz="5040">
                <a:solidFill>
                  <a:srgbClr val="0B1F3A"/>
                </a:solidFill>
                <a:latin typeface="League Spartan"/>
                <a:ea typeface="League Spartan"/>
                <a:cs typeface="League Spartan"/>
                <a:sym typeface="League Spartan"/>
              </a:rPr>
              <a:t>Fashion-MNIST dataset</a:t>
            </a:r>
          </a:p>
        </p:txBody>
      </p:sp>
      <p:sp>
        <p:nvSpPr>
          <p:cNvPr name="TextBox 7" id="7"/>
          <p:cNvSpPr txBox="true"/>
          <p:nvPr/>
        </p:nvSpPr>
        <p:spPr>
          <a:xfrm rot="0">
            <a:off x="2854560" y="2402238"/>
            <a:ext cx="11588651" cy="552450"/>
          </a:xfrm>
          <a:prstGeom prst="rect">
            <a:avLst/>
          </a:prstGeom>
        </p:spPr>
        <p:txBody>
          <a:bodyPr anchor="t" rtlCol="false" tIns="0" lIns="0" bIns="0" rIns="0">
            <a:spAutoFit/>
          </a:bodyPr>
          <a:lstStyle/>
          <a:p>
            <a:pPr algn="l">
              <a:lnSpc>
                <a:spcPts val="4320"/>
              </a:lnSpc>
            </a:pPr>
            <a:r>
              <a:rPr lang="en-US" sz="3600" b="true">
                <a:solidFill>
                  <a:srgbClr val="243447"/>
                </a:solidFill>
                <a:latin typeface="Inter Bold"/>
                <a:ea typeface="Inter Bold"/>
                <a:cs typeface="Inter Bold"/>
                <a:sym typeface="Inter Bold"/>
              </a:rPr>
              <a:t>70,000 images           10 classes        28 × 28 grayscale</a:t>
            </a:r>
          </a:p>
        </p:txBody>
      </p:sp>
      <p:grpSp>
        <p:nvGrpSpPr>
          <p:cNvPr name="Group 8" id="8"/>
          <p:cNvGrpSpPr/>
          <p:nvPr/>
        </p:nvGrpSpPr>
        <p:grpSpPr>
          <a:xfrm rot="0">
            <a:off x="764153" y="3263275"/>
            <a:ext cx="16759704" cy="3818944"/>
            <a:chOff x="0" y="0"/>
            <a:chExt cx="22346272" cy="5091925"/>
          </a:xfrm>
        </p:grpSpPr>
        <p:sp>
          <p:nvSpPr>
            <p:cNvPr name="Freeform 9" id="9"/>
            <p:cNvSpPr/>
            <p:nvPr/>
          </p:nvSpPr>
          <p:spPr>
            <a:xfrm flipH="false" flipV="false" rot="0">
              <a:off x="0" y="0"/>
              <a:ext cx="22346286" cy="5091938"/>
            </a:xfrm>
            <a:custGeom>
              <a:avLst/>
              <a:gdLst/>
              <a:ahLst/>
              <a:cxnLst/>
              <a:rect r="r" b="b" t="t" l="l"/>
              <a:pathLst>
                <a:path h="5091938" w="22346286">
                  <a:moveTo>
                    <a:pt x="0" y="0"/>
                  </a:moveTo>
                  <a:lnTo>
                    <a:pt x="22346286" y="0"/>
                  </a:lnTo>
                  <a:lnTo>
                    <a:pt x="22346286" y="5091938"/>
                  </a:lnTo>
                  <a:lnTo>
                    <a:pt x="0" y="5091938"/>
                  </a:lnTo>
                  <a:lnTo>
                    <a:pt x="0" y="0"/>
                  </a:lnTo>
                  <a:close/>
                </a:path>
              </a:pathLst>
            </a:custGeom>
            <a:blipFill>
              <a:blip r:embed="rId5"/>
              <a:stretch>
                <a:fillRect l="0" t="-35" r="0" b="-35"/>
              </a:stretch>
            </a:blipFill>
          </p:spPr>
        </p:sp>
      </p:grpSp>
      <p:sp>
        <p:nvSpPr>
          <p:cNvPr name="TextBox 10" id="10"/>
          <p:cNvSpPr txBox="true"/>
          <p:nvPr/>
        </p:nvSpPr>
        <p:spPr>
          <a:xfrm rot="0">
            <a:off x="855621" y="7584996"/>
            <a:ext cx="10729466" cy="552450"/>
          </a:xfrm>
          <a:prstGeom prst="rect">
            <a:avLst/>
          </a:prstGeom>
        </p:spPr>
        <p:txBody>
          <a:bodyPr anchor="t" rtlCol="false" tIns="0" lIns="0" bIns="0" rIns="0">
            <a:spAutoFit/>
          </a:bodyPr>
          <a:lstStyle/>
          <a:p>
            <a:pPr algn="l">
              <a:lnSpc>
                <a:spcPts val="4320"/>
              </a:lnSpc>
            </a:pPr>
            <a:r>
              <a:rPr lang="en-US" sz="3600">
                <a:solidFill>
                  <a:srgbClr val="243447"/>
                </a:solidFill>
                <a:latin typeface="Inter"/>
                <a:ea typeface="Inter"/>
                <a:cs typeface="Inter"/>
                <a:sym typeface="Inter"/>
              </a:rPr>
              <a:t>Balanced classes: 6,000 training images per class.</a:t>
            </a:r>
          </a:p>
        </p:txBody>
      </p:sp>
      <p:sp>
        <p:nvSpPr>
          <p:cNvPr name="TextBox 11" id="11"/>
          <p:cNvSpPr txBox="true"/>
          <p:nvPr/>
        </p:nvSpPr>
        <p:spPr>
          <a:xfrm rot="0">
            <a:off x="3135544" y="8603675"/>
            <a:ext cx="2200573" cy="723900"/>
          </a:xfrm>
          <a:prstGeom prst="rect">
            <a:avLst/>
          </a:prstGeom>
        </p:spPr>
        <p:txBody>
          <a:bodyPr anchor="t" rtlCol="false" tIns="0" lIns="0" bIns="0" rIns="0">
            <a:spAutoFit/>
          </a:bodyPr>
          <a:lstStyle/>
          <a:p>
            <a:pPr algn="l">
              <a:lnSpc>
                <a:spcPts val="5759"/>
              </a:lnSpc>
            </a:pPr>
            <a:r>
              <a:rPr lang="en-US" sz="4800" b="true">
                <a:solidFill>
                  <a:srgbClr val="0E7490"/>
                </a:solidFill>
                <a:latin typeface="Inter Bold"/>
                <a:ea typeface="Inter Bold"/>
                <a:cs typeface="Inter Bold"/>
                <a:sym typeface="Inter Bold"/>
              </a:rPr>
              <a:t>54,000</a:t>
            </a:r>
          </a:p>
        </p:txBody>
      </p:sp>
      <p:sp>
        <p:nvSpPr>
          <p:cNvPr name="TextBox 12" id="12"/>
          <p:cNvSpPr txBox="true"/>
          <p:nvPr/>
        </p:nvSpPr>
        <p:spPr>
          <a:xfrm rot="0">
            <a:off x="3135544" y="9365675"/>
            <a:ext cx="1346597" cy="419100"/>
          </a:xfrm>
          <a:prstGeom prst="rect">
            <a:avLst/>
          </a:prstGeom>
        </p:spPr>
        <p:txBody>
          <a:bodyPr anchor="t" rtlCol="false" tIns="0" lIns="0" bIns="0" rIns="0">
            <a:spAutoFit/>
          </a:bodyPr>
          <a:lstStyle/>
          <a:p>
            <a:pPr algn="l">
              <a:lnSpc>
                <a:spcPts val="3359"/>
              </a:lnSpc>
            </a:pPr>
            <a:r>
              <a:rPr lang="en-US" sz="2799">
                <a:solidFill>
                  <a:srgbClr val="64748B"/>
                </a:solidFill>
                <a:latin typeface="Inter"/>
                <a:ea typeface="Inter"/>
                <a:cs typeface="Inter"/>
                <a:sym typeface="Inter"/>
              </a:rPr>
              <a:t>Training</a:t>
            </a:r>
          </a:p>
        </p:txBody>
      </p:sp>
      <p:sp>
        <p:nvSpPr>
          <p:cNvPr name="TextBox 13" id="13"/>
          <p:cNvSpPr txBox="true"/>
          <p:nvPr/>
        </p:nvSpPr>
        <p:spPr>
          <a:xfrm rot="0">
            <a:off x="8126092" y="8603828"/>
            <a:ext cx="1806476" cy="723900"/>
          </a:xfrm>
          <a:prstGeom prst="rect">
            <a:avLst/>
          </a:prstGeom>
        </p:spPr>
        <p:txBody>
          <a:bodyPr anchor="t" rtlCol="false" tIns="0" lIns="0" bIns="0" rIns="0">
            <a:spAutoFit/>
          </a:bodyPr>
          <a:lstStyle/>
          <a:p>
            <a:pPr algn="l">
              <a:lnSpc>
                <a:spcPts val="5759"/>
              </a:lnSpc>
            </a:pPr>
            <a:r>
              <a:rPr lang="en-US" sz="4800" b="true">
                <a:solidFill>
                  <a:srgbClr val="0E7490"/>
                </a:solidFill>
                <a:latin typeface="Inter Bold"/>
                <a:ea typeface="Inter Bold"/>
                <a:cs typeface="Inter Bold"/>
                <a:sym typeface="Inter Bold"/>
              </a:rPr>
              <a:t>6,000</a:t>
            </a:r>
          </a:p>
        </p:txBody>
      </p:sp>
      <p:sp>
        <p:nvSpPr>
          <p:cNvPr name="TextBox 14" id="14"/>
          <p:cNvSpPr txBox="true"/>
          <p:nvPr/>
        </p:nvSpPr>
        <p:spPr>
          <a:xfrm rot="0">
            <a:off x="8126092" y="9391250"/>
            <a:ext cx="1629668" cy="419100"/>
          </a:xfrm>
          <a:prstGeom prst="rect">
            <a:avLst/>
          </a:prstGeom>
        </p:spPr>
        <p:txBody>
          <a:bodyPr anchor="t" rtlCol="false" tIns="0" lIns="0" bIns="0" rIns="0">
            <a:spAutoFit/>
          </a:bodyPr>
          <a:lstStyle/>
          <a:p>
            <a:pPr algn="l">
              <a:lnSpc>
                <a:spcPts val="3359"/>
              </a:lnSpc>
            </a:pPr>
            <a:r>
              <a:rPr lang="en-US" sz="2799">
                <a:solidFill>
                  <a:srgbClr val="64748B"/>
                </a:solidFill>
                <a:latin typeface="Inter"/>
                <a:ea typeface="Inter"/>
                <a:cs typeface="Inter"/>
                <a:sym typeface="Inter"/>
              </a:rPr>
              <a:t>Validation</a:t>
            </a:r>
          </a:p>
        </p:txBody>
      </p:sp>
      <p:sp>
        <p:nvSpPr>
          <p:cNvPr name="TextBox 15" id="15"/>
          <p:cNvSpPr txBox="true"/>
          <p:nvPr/>
        </p:nvSpPr>
        <p:spPr>
          <a:xfrm rot="0">
            <a:off x="12988566" y="8603675"/>
            <a:ext cx="2079724" cy="723900"/>
          </a:xfrm>
          <a:prstGeom prst="rect">
            <a:avLst/>
          </a:prstGeom>
        </p:spPr>
        <p:txBody>
          <a:bodyPr anchor="t" rtlCol="false" tIns="0" lIns="0" bIns="0" rIns="0">
            <a:spAutoFit/>
          </a:bodyPr>
          <a:lstStyle/>
          <a:p>
            <a:pPr algn="l">
              <a:lnSpc>
                <a:spcPts val="5759"/>
              </a:lnSpc>
            </a:pPr>
            <a:r>
              <a:rPr lang="en-US" sz="4800" b="true">
                <a:solidFill>
                  <a:srgbClr val="0E7490"/>
                </a:solidFill>
                <a:latin typeface="Inter Bold"/>
                <a:ea typeface="Inter Bold"/>
                <a:cs typeface="Inter Bold"/>
                <a:sym typeface="Inter Bold"/>
              </a:rPr>
              <a:t>10,000</a:t>
            </a:r>
          </a:p>
        </p:txBody>
      </p:sp>
      <p:sp>
        <p:nvSpPr>
          <p:cNvPr name="TextBox 16" id="16"/>
          <p:cNvSpPr txBox="true"/>
          <p:nvPr/>
        </p:nvSpPr>
        <p:spPr>
          <a:xfrm rot="0">
            <a:off x="12988566" y="9391078"/>
            <a:ext cx="729109" cy="419100"/>
          </a:xfrm>
          <a:prstGeom prst="rect">
            <a:avLst/>
          </a:prstGeom>
        </p:spPr>
        <p:txBody>
          <a:bodyPr anchor="t" rtlCol="false" tIns="0" lIns="0" bIns="0" rIns="0">
            <a:spAutoFit/>
          </a:bodyPr>
          <a:lstStyle/>
          <a:p>
            <a:pPr algn="l">
              <a:lnSpc>
                <a:spcPts val="3359"/>
              </a:lnSpc>
            </a:pPr>
            <a:r>
              <a:rPr lang="en-US" sz="2799">
                <a:solidFill>
                  <a:srgbClr val="64748B"/>
                </a:solidFill>
                <a:latin typeface="Inter"/>
                <a:ea typeface="Inter"/>
                <a:cs typeface="Inter"/>
                <a:sym typeface="Inter"/>
              </a:rPr>
              <a:t>Test</a:t>
            </a:r>
          </a:p>
        </p:txBody>
      </p:sp>
      <p:sp>
        <p:nvSpPr>
          <p:cNvPr name="TextBox 17" id="17"/>
          <p:cNvSpPr txBox="true"/>
          <p:nvPr/>
        </p:nvSpPr>
        <p:spPr>
          <a:xfrm rot="0">
            <a:off x="806519" y="7189618"/>
            <a:ext cx="16581149" cy="361950"/>
          </a:xfrm>
          <a:prstGeom prst="rect">
            <a:avLst/>
          </a:prstGeom>
        </p:spPr>
        <p:txBody>
          <a:bodyPr anchor="t" rtlCol="false" tIns="0" lIns="0" bIns="0" rIns="0">
            <a:spAutoFit/>
          </a:bodyPr>
          <a:lstStyle/>
          <a:p>
            <a:pPr algn="l">
              <a:lnSpc>
                <a:spcPts val="2879"/>
              </a:lnSpc>
            </a:pPr>
            <a:r>
              <a:rPr lang="en-US" sz="2400" i="true">
                <a:solidFill>
                  <a:srgbClr val="64748B"/>
                </a:solidFill>
                <a:latin typeface="Inter Italics"/>
                <a:ea typeface="Inter Italics"/>
                <a:cs typeface="Inter Italics"/>
                <a:sym typeface="Inter Italics"/>
              </a:rPr>
              <a:t>Figure 1. Some sample images of different classes. </a:t>
            </a:r>
          </a:p>
        </p:txBody>
      </p:sp>
      <p:sp>
        <p:nvSpPr>
          <p:cNvPr name="TextBox 18" id="18"/>
          <p:cNvSpPr txBox="true"/>
          <p:nvPr/>
        </p:nvSpPr>
        <p:spPr>
          <a:xfrm rot="0">
            <a:off x="853392" y="1632804"/>
            <a:ext cx="13219212" cy="552450"/>
          </a:xfrm>
          <a:prstGeom prst="rect">
            <a:avLst/>
          </a:prstGeom>
        </p:spPr>
        <p:txBody>
          <a:bodyPr anchor="t" rtlCol="false" tIns="0" lIns="0" bIns="0" rIns="0">
            <a:spAutoFit/>
          </a:bodyPr>
          <a:lstStyle/>
          <a:p>
            <a:pPr algn="l">
              <a:lnSpc>
                <a:spcPts val="4320"/>
              </a:lnSpc>
            </a:pPr>
            <a:r>
              <a:rPr lang="en-US" sz="3600" b="true">
                <a:solidFill>
                  <a:srgbClr val="243447"/>
                </a:solidFill>
                <a:latin typeface="Inter Bold"/>
                <a:ea typeface="Inter Bold"/>
                <a:cs typeface="Inter Bold"/>
                <a:sym typeface="Inter Bold"/>
              </a:rPr>
              <a:t>Objective: </a:t>
            </a:r>
            <a:r>
              <a:rPr lang="en-US" sz="3600">
                <a:solidFill>
                  <a:srgbClr val="243447"/>
                </a:solidFill>
                <a:latin typeface="Inter"/>
                <a:ea typeface="Inter"/>
                <a:cs typeface="Inter"/>
                <a:sym typeface="Inter"/>
              </a:rPr>
              <a:t>Classify the image to the correct clothing category.</a:t>
            </a:r>
          </a:p>
        </p:txBody>
      </p:sp>
    </p:spTree>
  </p:cSld>
  <p:clrMapOvr>
    <a:masterClrMapping/>
  </p:clrMapOvr>
  <p:transition spd="slow">
    <p:cover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AF4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223" t="0" r="-223" b="0"/>
            </a:stretch>
          </a:blipFill>
        </p:spPr>
      </p:sp>
      <p:grpSp>
        <p:nvGrpSpPr>
          <p:cNvPr name="Group 3" id="3"/>
          <p:cNvGrpSpPr/>
          <p:nvPr/>
        </p:nvGrpSpPr>
        <p:grpSpPr>
          <a:xfrm rot="0">
            <a:off x="0" y="0"/>
            <a:ext cx="18288000" cy="133350"/>
            <a:chOff x="0" y="0"/>
            <a:chExt cx="24384000" cy="177800"/>
          </a:xfrm>
        </p:grpSpPr>
        <p:sp>
          <p:nvSpPr>
            <p:cNvPr name="Freeform 4" id="4"/>
            <p:cNvSpPr/>
            <p:nvPr/>
          </p:nvSpPr>
          <p:spPr>
            <a:xfrm flipH="false" flipV="false" rot="0">
              <a:off x="0" y="0"/>
              <a:ext cx="24384000" cy="177800"/>
            </a:xfrm>
            <a:custGeom>
              <a:avLst/>
              <a:gdLst/>
              <a:ahLst/>
              <a:cxnLst/>
              <a:rect r="r" b="b" t="t" l="l"/>
              <a:pathLst>
                <a:path h="177800" w="24384000">
                  <a:moveTo>
                    <a:pt x="0" y="0"/>
                  </a:moveTo>
                  <a:lnTo>
                    <a:pt x="24384000" y="0"/>
                  </a:lnTo>
                  <a:lnTo>
                    <a:pt x="24384000" y="177800"/>
                  </a:lnTo>
                  <a:lnTo>
                    <a:pt x="0" y="177800"/>
                  </a:lnTo>
                  <a:close/>
                </a:path>
              </a:pathLst>
            </a:custGeom>
            <a:solidFill>
              <a:srgbClr val="0B1F3A"/>
            </a:solidFill>
          </p:spPr>
        </p:sp>
        <p:sp>
          <p:nvSpPr>
            <p:cNvPr name="TextBox 5" id="5"/>
            <p:cNvSpPr txBox="true"/>
            <p:nvPr/>
          </p:nvSpPr>
          <p:spPr>
            <a:xfrm>
              <a:off x="0" y="-38100"/>
              <a:ext cx="24384000" cy="2159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714823" y="496929"/>
            <a:ext cx="16858355" cy="762000"/>
          </a:xfrm>
          <a:prstGeom prst="rect">
            <a:avLst/>
          </a:prstGeom>
        </p:spPr>
        <p:txBody>
          <a:bodyPr anchor="t" rtlCol="false" tIns="0" lIns="0" bIns="0" rIns="0">
            <a:spAutoFit/>
          </a:bodyPr>
          <a:lstStyle/>
          <a:p>
            <a:pPr algn="l">
              <a:lnSpc>
                <a:spcPts val="6048"/>
              </a:lnSpc>
            </a:pPr>
            <a:r>
              <a:rPr lang="en-US" sz="5040" b="true">
                <a:solidFill>
                  <a:srgbClr val="0B1F3A"/>
                </a:solidFill>
                <a:latin typeface="League Spartan"/>
                <a:ea typeface="League Spartan"/>
                <a:cs typeface="League Spartan"/>
                <a:sym typeface="League Spartan"/>
              </a:rPr>
              <a:t>Fashion-MNIST dataset</a:t>
            </a:r>
          </a:p>
        </p:txBody>
      </p:sp>
      <p:grpSp>
        <p:nvGrpSpPr>
          <p:cNvPr name="Group 7" id="7"/>
          <p:cNvGrpSpPr/>
          <p:nvPr/>
        </p:nvGrpSpPr>
        <p:grpSpPr>
          <a:xfrm rot="0">
            <a:off x="1003097" y="2057200"/>
            <a:ext cx="7033203" cy="3468500"/>
            <a:chOff x="0" y="0"/>
            <a:chExt cx="9377604" cy="4624667"/>
          </a:xfrm>
        </p:grpSpPr>
        <p:sp>
          <p:nvSpPr>
            <p:cNvPr name="Freeform 8" id="8"/>
            <p:cNvSpPr/>
            <p:nvPr/>
          </p:nvSpPr>
          <p:spPr>
            <a:xfrm flipH="false" flipV="false" rot="0">
              <a:off x="0" y="0"/>
              <a:ext cx="9377553" cy="4624705"/>
            </a:xfrm>
            <a:custGeom>
              <a:avLst/>
              <a:gdLst/>
              <a:ahLst/>
              <a:cxnLst/>
              <a:rect r="r" b="b" t="t" l="l"/>
              <a:pathLst>
                <a:path h="4624705" w="9377553">
                  <a:moveTo>
                    <a:pt x="0" y="0"/>
                  </a:moveTo>
                  <a:lnTo>
                    <a:pt x="9377553" y="0"/>
                  </a:lnTo>
                  <a:lnTo>
                    <a:pt x="9377553" y="4624705"/>
                  </a:lnTo>
                  <a:lnTo>
                    <a:pt x="0" y="4624705"/>
                  </a:lnTo>
                  <a:lnTo>
                    <a:pt x="0" y="0"/>
                  </a:lnTo>
                  <a:close/>
                </a:path>
              </a:pathLst>
            </a:custGeom>
            <a:blipFill>
              <a:blip r:embed="rId5"/>
              <a:stretch>
                <a:fillRect l="-22" t="0" r="-23" b="0"/>
              </a:stretch>
            </a:blipFill>
          </p:spPr>
        </p:sp>
      </p:grpSp>
      <p:grpSp>
        <p:nvGrpSpPr>
          <p:cNvPr name="Group 9" id="9"/>
          <p:cNvGrpSpPr/>
          <p:nvPr/>
        </p:nvGrpSpPr>
        <p:grpSpPr>
          <a:xfrm rot="0">
            <a:off x="1084631" y="5705704"/>
            <a:ext cx="7153799" cy="4237091"/>
            <a:chOff x="0" y="0"/>
            <a:chExt cx="9538398" cy="5649455"/>
          </a:xfrm>
        </p:grpSpPr>
        <p:sp>
          <p:nvSpPr>
            <p:cNvPr name="Freeform 10" id="10"/>
            <p:cNvSpPr/>
            <p:nvPr/>
          </p:nvSpPr>
          <p:spPr>
            <a:xfrm flipH="false" flipV="false" rot="0">
              <a:off x="0" y="0"/>
              <a:ext cx="9538335" cy="5649468"/>
            </a:xfrm>
            <a:custGeom>
              <a:avLst/>
              <a:gdLst/>
              <a:ahLst/>
              <a:cxnLst/>
              <a:rect r="r" b="b" t="t" l="l"/>
              <a:pathLst>
                <a:path h="5649468" w="9538335">
                  <a:moveTo>
                    <a:pt x="0" y="0"/>
                  </a:moveTo>
                  <a:lnTo>
                    <a:pt x="9538335" y="0"/>
                  </a:lnTo>
                  <a:lnTo>
                    <a:pt x="9538335" y="5649468"/>
                  </a:lnTo>
                  <a:lnTo>
                    <a:pt x="0" y="5649468"/>
                  </a:lnTo>
                  <a:lnTo>
                    <a:pt x="0" y="0"/>
                  </a:lnTo>
                  <a:close/>
                </a:path>
              </a:pathLst>
            </a:custGeom>
            <a:blipFill>
              <a:blip r:embed="rId6"/>
              <a:stretch>
                <a:fillRect l="0" t="-3" r="0" b="-3"/>
              </a:stretch>
            </a:blipFill>
          </p:spPr>
        </p:sp>
      </p:grpSp>
      <p:sp>
        <p:nvSpPr>
          <p:cNvPr name="TextBox 11" id="11"/>
          <p:cNvSpPr txBox="true"/>
          <p:nvPr/>
        </p:nvSpPr>
        <p:spPr>
          <a:xfrm rot="0">
            <a:off x="1003097" y="1386621"/>
            <a:ext cx="3069729" cy="542925"/>
          </a:xfrm>
          <a:prstGeom prst="rect">
            <a:avLst/>
          </a:prstGeom>
        </p:spPr>
        <p:txBody>
          <a:bodyPr anchor="t" rtlCol="false" tIns="0" lIns="0" bIns="0" rIns="0">
            <a:spAutoFit/>
          </a:bodyPr>
          <a:lstStyle/>
          <a:p>
            <a:pPr algn="l">
              <a:lnSpc>
                <a:spcPts val="4320"/>
              </a:lnSpc>
            </a:pPr>
            <a:r>
              <a:rPr lang="en-US" sz="3600" i="true">
                <a:solidFill>
                  <a:srgbClr val="243447"/>
                </a:solidFill>
                <a:latin typeface="League Spartan"/>
                <a:ea typeface="League Spartan"/>
                <a:cs typeface="League Spartan"/>
                <a:sym typeface="League Spartan"/>
              </a:rPr>
              <a:t>About Image</a:t>
            </a:r>
          </a:p>
        </p:txBody>
      </p:sp>
      <p:sp>
        <p:nvSpPr>
          <p:cNvPr name="TextBox 12" id="12"/>
          <p:cNvSpPr txBox="true"/>
          <p:nvPr/>
        </p:nvSpPr>
        <p:spPr>
          <a:xfrm rot="0">
            <a:off x="8984399" y="1386621"/>
            <a:ext cx="2820591" cy="542925"/>
          </a:xfrm>
          <a:prstGeom prst="rect">
            <a:avLst/>
          </a:prstGeom>
        </p:spPr>
        <p:txBody>
          <a:bodyPr anchor="t" rtlCol="false" tIns="0" lIns="0" bIns="0" rIns="0">
            <a:spAutoFit/>
          </a:bodyPr>
          <a:lstStyle/>
          <a:p>
            <a:pPr algn="l">
              <a:lnSpc>
                <a:spcPts val="4320"/>
              </a:lnSpc>
            </a:pPr>
            <a:r>
              <a:rPr lang="en-US" sz="3600" i="true">
                <a:solidFill>
                  <a:srgbClr val="243447"/>
                </a:solidFill>
                <a:latin typeface="League Spartan"/>
                <a:ea typeface="League Spartan"/>
                <a:cs typeface="League Spartan"/>
                <a:sym typeface="League Spartan"/>
              </a:rPr>
              <a:t>About Class</a:t>
            </a:r>
          </a:p>
        </p:txBody>
      </p:sp>
      <p:grpSp>
        <p:nvGrpSpPr>
          <p:cNvPr name="Group 13" id="13"/>
          <p:cNvGrpSpPr/>
          <p:nvPr/>
        </p:nvGrpSpPr>
        <p:grpSpPr>
          <a:xfrm rot="0">
            <a:off x="8984399" y="2220049"/>
            <a:ext cx="8416642" cy="5863400"/>
            <a:chOff x="0" y="0"/>
            <a:chExt cx="11222190" cy="7817866"/>
          </a:xfrm>
        </p:grpSpPr>
        <p:sp>
          <p:nvSpPr>
            <p:cNvPr name="Freeform 14" id="14"/>
            <p:cNvSpPr/>
            <p:nvPr/>
          </p:nvSpPr>
          <p:spPr>
            <a:xfrm flipH="false" flipV="false" rot="0">
              <a:off x="0" y="0"/>
              <a:ext cx="11222228" cy="7817866"/>
            </a:xfrm>
            <a:custGeom>
              <a:avLst/>
              <a:gdLst/>
              <a:ahLst/>
              <a:cxnLst/>
              <a:rect r="r" b="b" t="t" l="l"/>
              <a:pathLst>
                <a:path h="7817866" w="11222228">
                  <a:moveTo>
                    <a:pt x="0" y="0"/>
                  </a:moveTo>
                  <a:lnTo>
                    <a:pt x="11222228" y="0"/>
                  </a:lnTo>
                  <a:lnTo>
                    <a:pt x="11222228" y="7817866"/>
                  </a:lnTo>
                  <a:lnTo>
                    <a:pt x="0" y="7817866"/>
                  </a:lnTo>
                  <a:lnTo>
                    <a:pt x="0" y="0"/>
                  </a:lnTo>
                  <a:close/>
                </a:path>
              </a:pathLst>
            </a:custGeom>
            <a:blipFill>
              <a:blip r:embed="rId7"/>
              <a:stretch>
                <a:fillRect l="0" t="0" r="0" b="-10691"/>
              </a:stretch>
            </a:blipFill>
          </p:spPr>
        </p:sp>
      </p:grpSp>
      <p:sp>
        <p:nvSpPr>
          <p:cNvPr name="TextBox 15" id="15"/>
          <p:cNvSpPr txBox="true"/>
          <p:nvPr/>
        </p:nvSpPr>
        <p:spPr>
          <a:xfrm rot="0">
            <a:off x="9235421" y="8337728"/>
            <a:ext cx="6282747" cy="723900"/>
          </a:xfrm>
          <a:prstGeom prst="rect">
            <a:avLst/>
          </a:prstGeom>
        </p:spPr>
        <p:txBody>
          <a:bodyPr anchor="t" rtlCol="false" tIns="0" lIns="0" bIns="0" rIns="0">
            <a:spAutoFit/>
          </a:bodyPr>
          <a:lstStyle/>
          <a:p>
            <a:pPr algn="l">
              <a:lnSpc>
                <a:spcPts val="2879"/>
              </a:lnSpc>
            </a:pPr>
            <a:r>
              <a:rPr lang="en-US" sz="2400" i="true">
                <a:solidFill>
                  <a:srgbClr val="64748B"/>
                </a:solidFill>
                <a:latin typeface="Inter Italics"/>
                <a:ea typeface="Inter Italics"/>
                <a:cs typeface="Inter Italics"/>
                <a:sym typeface="Inter Italics"/>
              </a:rPr>
              <a:t>Figure 2. Image and Class EDA. There are some highly similar classes.</a:t>
            </a:r>
          </a:p>
        </p:txBody>
      </p:sp>
    </p:spTree>
  </p:cSld>
  <p:clrMapOvr>
    <a:masterClrMapping/>
  </p:clrMapOvr>
  <p:transition spd="slow">
    <p:cover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AF4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33350"/>
            <a:chOff x="0" y="0"/>
            <a:chExt cx="24384000" cy="177800"/>
          </a:xfrm>
        </p:grpSpPr>
        <p:sp>
          <p:nvSpPr>
            <p:cNvPr name="Freeform 3" id="3"/>
            <p:cNvSpPr/>
            <p:nvPr/>
          </p:nvSpPr>
          <p:spPr>
            <a:xfrm flipH="false" flipV="false" rot="0">
              <a:off x="0" y="0"/>
              <a:ext cx="24384000" cy="177800"/>
            </a:xfrm>
            <a:custGeom>
              <a:avLst/>
              <a:gdLst/>
              <a:ahLst/>
              <a:cxnLst/>
              <a:rect r="r" b="b" t="t" l="l"/>
              <a:pathLst>
                <a:path h="177800" w="24384000">
                  <a:moveTo>
                    <a:pt x="0" y="0"/>
                  </a:moveTo>
                  <a:lnTo>
                    <a:pt x="24384000" y="0"/>
                  </a:lnTo>
                  <a:lnTo>
                    <a:pt x="24384000" y="177800"/>
                  </a:lnTo>
                  <a:lnTo>
                    <a:pt x="0" y="177800"/>
                  </a:lnTo>
                  <a:close/>
                </a:path>
              </a:pathLst>
            </a:custGeom>
            <a:solidFill>
              <a:srgbClr val="0B1F3A"/>
            </a:solidFill>
          </p:spPr>
        </p:sp>
        <p:sp>
          <p:nvSpPr>
            <p:cNvPr name="TextBox 4" id="4"/>
            <p:cNvSpPr txBox="true"/>
            <p:nvPr/>
          </p:nvSpPr>
          <p:spPr>
            <a:xfrm>
              <a:off x="0" y="-38100"/>
              <a:ext cx="24384000" cy="2159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714823" y="1825152"/>
            <a:ext cx="7536504" cy="2661152"/>
            <a:chOff x="0" y="0"/>
            <a:chExt cx="10048672" cy="3548202"/>
          </a:xfrm>
        </p:grpSpPr>
        <p:sp>
          <p:nvSpPr>
            <p:cNvPr name="Freeform 6" id="6"/>
            <p:cNvSpPr/>
            <p:nvPr/>
          </p:nvSpPr>
          <p:spPr>
            <a:xfrm flipH="false" flipV="false" rot="0">
              <a:off x="0" y="0"/>
              <a:ext cx="10048621" cy="3548253"/>
            </a:xfrm>
            <a:custGeom>
              <a:avLst/>
              <a:gdLst/>
              <a:ahLst/>
              <a:cxnLst/>
              <a:rect r="r" b="b" t="t" l="l"/>
              <a:pathLst>
                <a:path h="3548253" w="10048621">
                  <a:moveTo>
                    <a:pt x="0" y="0"/>
                  </a:moveTo>
                  <a:lnTo>
                    <a:pt x="10048621" y="0"/>
                  </a:lnTo>
                  <a:lnTo>
                    <a:pt x="10048621" y="3548253"/>
                  </a:lnTo>
                  <a:lnTo>
                    <a:pt x="0" y="3548253"/>
                  </a:lnTo>
                  <a:lnTo>
                    <a:pt x="0" y="0"/>
                  </a:lnTo>
                  <a:close/>
                </a:path>
              </a:pathLst>
            </a:custGeom>
            <a:blipFill>
              <a:blip r:embed="rId3"/>
              <a:stretch>
                <a:fillRect l="0" t="0" r="0" b="1"/>
              </a:stretch>
            </a:blipFill>
          </p:spPr>
        </p:sp>
      </p:grpSp>
      <p:grpSp>
        <p:nvGrpSpPr>
          <p:cNvPr name="Group 7" id="7"/>
          <p:cNvGrpSpPr/>
          <p:nvPr/>
        </p:nvGrpSpPr>
        <p:grpSpPr>
          <a:xfrm rot="0">
            <a:off x="8398599" y="1719405"/>
            <a:ext cx="9724301" cy="2872645"/>
            <a:chOff x="0" y="0"/>
            <a:chExt cx="12965735" cy="3830193"/>
          </a:xfrm>
        </p:grpSpPr>
        <p:sp>
          <p:nvSpPr>
            <p:cNvPr name="Freeform 8" id="8"/>
            <p:cNvSpPr/>
            <p:nvPr/>
          </p:nvSpPr>
          <p:spPr>
            <a:xfrm flipH="false" flipV="false" rot="0">
              <a:off x="0" y="0"/>
              <a:ext cx="12965684" cy="3830193"/>
            </a:xfrm>
            <a:custGeom>
              <a:avLst/>
              <a:gdLst/>
              <a:ahLst/>
              <a:cxnLst/>
              <a:rect r="r" b="b" t="t" l="l"/>
              <a:pathLst>
                <a:path h="3830193" w="12965684">
                  <a:moveTo>
                    <a:pt x="0" y="0"/>
                  </a:moveTo>
                  <a:lnTo>
                    <a:pt x="12965684" y="0"/>
                  </a:lnTo>
                  <a:lnTo>
                    <a:pt x="12965684" y="3830193"/>
                  </a:lnTo>
                  <a:lnTo>
                    <a:pt x="0" y="3830193"/>
                  </a:lnTo>
                  <a:lnTo>
                    <a:pt x="0" y="0"/>
                  </a:lnTo>
                  <a:close/>
                </a:path>
              </a:pathLst>
            </a:custGeom>
            <a:blipFill>
              <a:blip r:embed="rId4"/>
              <a:stretch>
                <a:fillRect l="0" t="0" r="0" b="0"/>
              </a:stretch>
            </a:blipFill>
          </p:spPr>
        </p:sp>
      </p:grpSp>
      <p:sp>
        <p:nvSpPr>
          <p:cNvPr name="Freeform 9" id="9"/>
          <p:cNvSpPr/>
          <p:nvPr/>
        </p:nvSpPr>
        <p:spPr>
          <a:xfrm flipH="false" flipV="false" rot="0">
            <a:off x="1438751" y="5607396"/>
            <a:ext cx="10335535" cy="3710776"/>
          </a:xfrm>
          <a:custGeom>
            <a:avLst/>
            <a:gdLst/>
            <a:ahLst/>
            <a:cxnLst/>
            <a:rect r="r" b="b" t="t" l="l"/>
            <a:pathLst>
              <a:path h="3710776" w="10335535">
                <a:moveTo>
                  <a:pt x="0" y="0"/>
                </a:moveTo>
                <a:lnTo>
                  <a:pt x="10335535" y="0"/>
                </a:lnTo>
                <a:lnTo>
                  <a:pt x="10335535" y="3710776"/>
                </a:lnTo>
                <a:lnTo>
                  <a:pt x="0" y="3710776"/>
                </a:lnTo>
                <a:lnTo>
                  <a:pt x="0" y="0"/>
                </a:lnTo>
                <a:close/>
              </a:path>
            </a:pathLst>
          </a:custGeom>
          <a:blipFill>
            <a:blip r:embed="rId5"/>
            <a:stretch>
              <a:fillRect l="0" t="0" r="0" b="0"/>
            </a:stretch>
          </a:blipFill>
        </p:spPr>
      </p:sp>
      <p:sp>
        <p:nvSpPr>
          <p:cNvPr name="TextBox 10" id="10"/>
          <p:cNvSpPr txBox="true"/>
          <p:nvPr/>
        </p:nvSpPr>
        <p:spPr>
          <a:xfrm rot="0">
            <a:off x="714823" y="496929"/>
            <a:ext cx="16858355" cy="762000"/>
          </a:xfrm>
          <a:prstGeom prst="rect">
            <a:avLst/>
          </a:prstGeom>
        </p:spPr>
        <p:txBody>
          <a:bodyPr anchor="t" rtlCol="false" tIns="0" lIns="0" bIns="0" rIns="0">
            <a:spAutoFit/>
          </a:bodyPr>
          <a:lstStyle/>
          <a:p>
            <a:pPr algn="l">
              <a:lnSpc>
                <a:spcPts val="6048"/>
              </a:lnSpc>
            </a:pPr>
            <a:r>
              <a:rPr lang="en-US" sz="5040" b="true">
                <a:solidFill>
                  <a:srgbClr val="0B1F3A"/>
                </a:solidFill>
                <a:latin typeface="League Spartan"/>
                <a:ea typeface="League Spartan"/>
                <a:cs typeface="League Spartan"/>
                <a:sym typeface="League Spartan"/>
              </a:rPr>
              <a:t>Linear, MLP and CNN</a:t>
            </a:r>
          </a:p>
        </p:txBody>
      </p:sp>
      <p:sp>
        <p:nvSpPr>
          <p:cNvPr name="TextBox 11" id="11"/>
          <p:cNvSpPr txBox="true"/>
          <p:nvPr/>
        </p:nvSpPr>
        <p:spPr>
          <a:xfrm rot="0">
            <a:off x="955224" y="4683471"/>
            <a:ext cx="6282747" cy="723900"/>
          </a:xfrm>
          <a:prstGeom prst="rect">
            <a:avLst/>
          </a:prstGeom>
        </p:spPr>
        <p:txBody>
          <a:bodyPr anchor="t" rtlCol="false" tIns="0" lIns="0" bIns="0" rIns="0">
            <a:spAutoFit/>
          </a:bodyPr>
          <a:lstStyle/>
          <a:p>
            <a:pPr algn="l">
              <a:lnSpc>
                <a:spcPts val="2879"/>
              </a:lnSpc>
            </a:pPr>
            <a:r>
              <a:rPr lang="en-US" sz="2400" i="true">
                <a:solidFill>
                  <a:srgbClr val="64748B"/>
                </a:solidFill>
                <a:latin typeface="Inter Italics"/>
                <a:ea typeface="Inter Italics"/>
                <a:cs typeface="Inter Italics"/>
                <a:sym typeface="Inter Italics"/>
              </a:rPr>
              <a:t>Figure 3. Linear model takes input X and output WX+b.</a:t>
            </a:r>
          </a:p>
        </p:txBody>
      </p:sp>
      <p:sp>
        <p:nvSpPr>
          <p:cNvPr name="TextBox 12" id="12"/>
          <p:cNvSpPr txBox="true"/>
          <p:nvPr/>
        </p:nvSpPr>
        <p:spPr>
          <a:xfrm rot="0">
            <a:off x="8892226" y="4708871"/>
            <a:ext cx="8199453" cy="723900"/>
          </a:xfrm>
          <a:prstGeom prst="rect">
            <a:avLst/>
          </a:prstGeom>
        </p:spPr>
        <p:txBody>
          <a:bodyPr anchor="t" rtlCol="false" tIns="0" lIns="0" bIns="0" rIns="0">
            <a:spAutoFit/>
          </a:bodyPr>
          <a:lstStyle/>
          <a:p>
            <a:pPr algn="l">
              <a:lnSpc>
                <a:spcPts val="2879"/>
              </a:lnSpc>
            </a:pPr>
            <a:r>
              <a:rPr lang="en-US" sz="2400" i="true">
                <a:solidFill>
                  <a:srgbClr val="64748B"/>
                </a:solidFill>
                <a:latin typeface="Inter Italics"/>
                <a:ea typeface="Inter Italics"/>
                <a:cs typeface="Inter Italics"/>
                <a:sym typeface="Inter Italics"/>
              </a:rPr>
              <a:t>Figure 4. MLP takes input X and output a hidden h=ReLU(WX+b) </a:t>
            </a:r>
          </a:p>
        </p:txBody>
      </p:sp>
      <p:sp>
        <p:nvSpPr>
          <p:cNvPr name="TextBox 13" id="13"/>
          <p:cNvSpPr txBox="true"/>
          <p:nvPr/>
        </p:nvSpPr>
        <p:spPr>
          <a:xfrm rot="0">
            <a:off x="12288742" y="6447596"/>
            <a:ext cx="3673364" cy="1447800"/>
          </a:xfrm>
          <a:prstGeom prst="rect">
            <a:avLst/>
          </a:prstGeom>
        </p:spPr>
        <p:txBody>
          <a:bodyPr anchor="t" rtlCol="false" tIns="0" lIns="0" bIns="0" rIns="0">
            <a:spAutoFit/>
          </a:bodyPr>
          <a:lstStyle/>
          <a:p>
            <a:pPr algn="l">
              <a:lnSpc>
                <a:spcPts val="2879"/>
              </a:lnSpc>
            </a:pPr>
            <a:r>
              <a:rPr lang="en-US" sz="2400" i="true">
                <a:solidFill>
                  <a:srgbClr val="64748B"/>
                </a:solidFill>
                <a:latin typeface="Inter Italics"/>
                <a:ea typeface="Inter Italics"/>
                <a:cs typeface="Inter Italics"/>
                <a:sym typeface="Inter Italics"/>
              </a:rPr>
              <a:t>Figure 5. CNN slides a convolutional kernel over the image to learn the features. </a:t>
            </a:r>
          </a:p>
        </p:txBody>
      </p:sp>
    </p:spTree>
  </p:cSld>
  <p:clrMapOvr>
    <a:masterClrMapping/>
  </p:clrMapOvr>
  <p:transition spd="slow">
    <p:cover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AF4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33350"/>
            <a:chOff x="0" y="0"/>
            <a:chExt cx="24384000" cy="177800"/>
          </a:xfrm>
        </p:grpSpPr>
        <p:sp>
          <p:nvSpPr>
            <p:cNvPr name="Freeform 3" id="3"/>
            <p:cNvSpPr/>
            <p:nvPr/>
          </p:nvSpPr>
          <p:spPr>
            <a:xfrm flipH="false" flipV="false" rot="0">
              <a:off x="0" y="0"/>
              <a:ext cx="24384000" cy="177800"/>
            </a:xfrm>
            <a:custGeom>
              <a:avLst/>
              <a:gdLst/>
              <a:ahLst/>
              <a:cxnLst/>
              <a:rect r="r" b="b" t="t" l="l"/>
              <a:pathLst>
                <a:path h="177800" w="24384000">
                  <a:moveTo>
                    <a:pt x="0" y="0"/>
                  </a:moveTo>
                  <a:lnTo>
                    <a:pt x="24384000" y="0"/>
                  </a:lnTo>
                  <a:lnTo>
                    <a:pt x="24384000" y="177800"/>
                  </a:lnTo>
                  <a:lnTo>
                    <a:pt x="0" y="177800"/>
                  </a:lnTo>
                  <a:close/>
                </a:path>
              </a:pathLst>
            </a:custGeom>
            <a:solidFill>
              <a:srgbClr val="0B1F3A"/>
            </a:solidFill>
          </p:spPr>
        </p:sp>
        <p:sp>
          <p:nvSpPr>
            <p:cNvPr name="TextBox 4" id="4"/>
            <p:cNvSpPr txBox="true"/>
            <p:nvPr/>
          </p:nvSpPr>
          <p:spPr>
            <a:xfrm>
              <a:off x="0" y="-38100"/>
              <a:ext cx="24384000" cy="2159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714823" y="496929"/>
            <a:ext cx="16858355" cy="762000"/>
          </a:xfrm>
          <a:prstGeom prst="rect">
            <a:avLst/>
          </a:prstGeom>
        </p:spPr>
        <p:txBody>
          <a:bodyPr anchor="t" rtlCol="false" tIns="0" lIns="0" bIns="0" rIns="0">
            <a:spAutoFit/>
          </a:bodyPr>
          <a:lstStyle/>
          <a:p>
            <a:pPr algn="l">
              <a:lnSpc>
                <a:spcPts val="6048"/>
              </a:lnSpc>
            </a:pPr>
            <a:r>
              <a:rPr lang="en-US" sz="5040" b="true">
                <a:solidFill>
                  <a:srgbClr val="0B1F3A"/>
                </a:solidFill>
                <a:latin typeface="League Spartan"/>
                <a:ea typeface="League Spartan"/>
                <a:cs typeface="League Spartan"/>
                <a:sym typeface="League Spartan"/>
              </a:rPr>
              <a:t>LSTM, GRU, and Transformers</a:t>
            </a:r>
          </a:p>
        </p:txBody>
      </p:sp>
      <p:grpSp>
        <p:nvGrpSpPr>
          <p:cNvPr name="Group 6" id="6"/>
          <p:cNvGrpSpPr/>
          <p:nvPr/>
        </p:nvGrpSpPr>
        <p:grpSpPr>
          <a:xfrm rot="0">
            <a:off x="623402" y="1550899"/>
            <a:ext cx="7402163" cy="4187504"/>
            <a:chOff x="0" y="0"/>
            <a:chExt cx="9869551" cy="5583339"/>
          </a:xfrm>
        </p:grpSpPr>
        <p:sp>
          <p:nvSpPr>
            <p:cNvPr name="Freeform 7" id="7"/>
            <p:cNvSpPr/>
            <p:nvPr/>
          </p:nvSpPr>
          <p:spPr>
            <a:xfrm flipH="false" flipV="false" rot="0">
              <a:off x="0" y="0"/>
              <a:ext cx="9869551" cy="5583301"/>
            </a:xfrm>
            <a:custGeom>
              <a:avLst/>
              <a:gdLst/>
              <a:ahLst/>
              <a:cxnLst/>
              <a:rect r="r" b="b" t="t" l="l"/>
              <a:pathLst>
                <a:path h="5583301" w="9869551">
                  <a:moveTo>
                    <a:pt x="0" y="0"/>
                  </a:moveTo>
                  <a:lnTo>
                    <a:pt x="9869551" y="0"/>
                  </a:lnTo>
                  <a:lnTo>
                    <a:pt x="9869551" y="5583301"/>
                  </a:lnTo>
                  <a:lnTo>
                    <a:pt x="0" y="5583301"/>
                  </a:lnTo>
                  <a:lnTo>
                    <a:pt x="0" y="0"/>
                  </a:lnTo>
                  <a:close/>
                </a:path>
              </a:pathLst>
            </a:custGeom>
            <a:blipFill>
              <a:blip r:embed="rId3"/>
              <a:stretch>
                <a:fillRect l="0" t="0" r="0" b="0"/>
              </a:stretch>
            </a:blipFill>
          </p:spPr>
        </p:sp>
      </p:grpSp>
      <p:sp>
        <p:nvSpPr>
          <p:cNvPr name="TextBox 8" id="8"/>
          <p:cNvSpPr txBox="true"/>
          <p:nvPr/>
        </p:nvSpPr>
        <p:spPr>
          <a:xfrm rot="0">
            <a:off x="688135" y="5780715"/>
            <a:ext cx="7466990" cy="723900"/>
          </a:xfrm>
          <a:prstGeom prst="rect">
            <a:avLst/>
          </a:prstGeom>
        </p:spPr>
        <p:txBody>
          <a:bodyPr anchor="t" rtlCol="false" tIns="0" lIns="0" bIns="0" rIns="0">
            <a:spAutoFit/>
          </a:bodyPr>
          <a:lstStyle/>
          <a:p>
            <a:pPr algn="l">
              <a:lnSpc>
                <a:spcPts val="2879"/>
              </a:lnSpc>
            </a:pPr>
            <a:r>
              <a:rPr lang="en-US" sz="2400" i="true">
                <a:solidFill>
                  <a:srgbClr val="64748B"/>
                </a:solidFill>
                <a:latin typeface="Inter Italics"/>
                <a:ea typeface="Inter Italics"/>
                <a:cs typeface="Inter Italics"/>
                <a:sym typeface="Inter Italics"/>
              </a:rPr>
              <a:t>Figure 6. LSTM cell with 3 memory gates. LSTM models with 1 layer and 28 cells with a linear head.</a:t>
            </a:r>
          </a:p>
        </p:txBody>
      </p:sp>
      <p:grpSp>
        <p:nvGrpSpPr>
          <p:cNvPr name="Group 9" id="9"/>
          <p:cNvGrpSpPr/>
          <p:nvPr/>
        </p:nvGrpSpPr>
        <p:grpSpPr>
          <a:xfrm rot="0">
            <a:off x="9144000" y="1540926"/>
            <a:ext cx="6436957" cy="4177541"/>
            <a:chOff x="0" y="0"/>
            <a:chExt cx="8582609" cy="5570055"/>
          </a:xfrm>
        </p:grpSpPr>
        <p:sp>
          <p:nvSpPr>
            <p:cNvPr name="Freeform 10" id="10"/>
            <p:cNvSpPr/>
            <p:nvPr/>
          </p:nvSpPr>
          <p:spPr>
            <a:xfrm flipH="false" flipV="false" rot="0">
              <a:off x="0" y="0"/>
              <a:ext cx="8582660" cy="5570093"/>
            </a:xfrm>
            <a:custGeom>
              <a:avLst/>
              <a:gdLst/>
              <a:ahLst/>
              <a:cxnLst/>
              <a:rect r="r" b="b" t="t" l="l"/>
              <a:pathLst>
                <a:path h="5570093" w="8582660">
                  <a:moveTo>
                    <a:pt x="0" y="0"/>
                  </a:moveTo>
                  <a:lnTo>
                    <a:pt x="8582660" y="0"/>
                  </a:lnTo>
                  <a:lnTo>
                    <a:pt x="8582660" y="5570093"/>
                  </a:lnTo>
                  <a:lnTo>
                    <a:pt x="0" y="5570093"/>
                  </a:lnTo>
                  <a:lnTo>
                    <a:pt x="0" y="0"/>
                  </a:lnTo>
                  <a:close/>
                </a:path>
              </a:pathLst>
            </a:custGeom>
            <a:blipFill>
              <a:blip r:embed="rId4"/>
              <a:stretch>
                <a:fillRect l="0" t="0" r="0" b="0"/>
              </a:stretch>
            </a:blipFill>
          </p:spPr>
        </p:sp>
      </p:grpSp>
      <p:sp>
        <p:nvSpPr>
          <p:cNvPr name="TextBox 11" id="11"/>
          <p:cNvSpPr txBox="true"/>
          <p:nvPr/>
        </p:nvSpPr>
        <p:spPr>
          <a:xfrm rot="0">
            <a:off x="9144000" y="5780715"/>
            <a:ext cx="5711628" cy="723900"/>
          </a:xfrm>
          <a:prstGeom prst="rect">
            <a:avLst/>
          </a:prstGeom>
        </p:spPr>
        <p:txBody>
          <a:bodyPr anchor="t" rtlCol="false" tIns="0" lIns="0" bIns="0" rIns="0">
            <a:spAutoFit/>
          </a:bodyPr>
          <a:lstStyle/>
          <a:p>
            <a:pPr algn="l">
              <a:lnSpc>
                <a:spcPts val="2879"/>
              </a:lnSpc>
            </a:pPr>
            <a:r>
              <a:rPr lang="en-US" sz="2400" i="true">
                <a:solidFill>
                  <a:srgbClr val="64748B"/>
                </a:solidFill>
                <a:latin typeface="Inter Italics"/>
                <a:ea typeface="Inter Italics"/>
                <a:cs typeface="Inter Italics"/>
                <a:sym typeface="Inter Italics"/>
              </a:rPr>
              <a:t>Figure 7. GRU cell has two memory gates. We use 28 Gru cells. </a:t>
            </a:r>
          </a:p>
        </p:txBody>
      </p:sp>
      <p:grpSp>
        <p:nvGrpSpPr>
          <p:cNvPr name="Group 12" id="12"/>
          <p:cNvGrpSpPr/>
          <p:nvPr/>
        </p:nvGrpSpPr>
        <p:grpSpPr>
          <a:xfrm rot="0">
            <a:off x="764705" y="6647078"/>
            <a:ext cx="13805240" cy="3143764"/>
            <a:chOff x="0" y="0"/>
            <a:chExt cx="18406986" cy="4191686"/>
          </a:xfrm>
        </p:grpSpPr>
        <p:sp>
          <p:nvSpPr>
            <p:cNvPr name="Freeform 13" id="13"/>
            <p:cNvSpPr/>
            <p:nvPr/>
          </p:nvSpPr>
          <p:spPr>
            <a:xfrm flipH="false" flipV="false" rot="0">
              <a:off x="0" y="0"/>
              <a:ext cx="18406999" cy="4191635"/>
            </a:xfrm>
            <a:custGeom>
              <a:avLst/>
              <a:gdLst/>
              <a:ahLst/>
              <a:cxnLst/>
              <a:rect r="r" b="b" t="t" l="l"/>
              <a:pathLst>
                <a:path h="4191635" w="18406999">
                  <a:moveTo>
                    <a:pt x="0" y="0"/>
                  </a:moveTo>
                  <a:lnTo>
                    <a:pt x="18406999" y="0"/>
                  </a:lnTo>
                  <a:lnTo>
                    <a:pt x="18406999" y="4191635"/>
                  </a:lnTo>
                  <a:lnTo>
                    <a:pt x="0" y="4191635"/>
                  </a:lnTo>
                  <a:lnTo>
                    <a:pt x="0" y="0"/>
                  </a:lnTo>
                  <a:close/>
                </a:path>
              </a:pathLst>
            </a:custGeom>
            <a:blipFill>
              <a:blip r:embed="rId5"/>
              <a:stretch>
                <a:fillRect l="0" t="0" r="0" b="-1"/>
              </a:stretch>
            </a:blipFill>
          </p:spPr>
        </p:sp>
      </p:grpSp>
      <p:sp>
        <p:nvSpPr>
          <p:cNvPr name="TextBox 14" id="14"/>
          <p:cNvSpPr txBox="true"/>
          <p:nvPr/>
        </p:nvSpPr>
        <p:spPr>
          <a:xfrm rot="0">
            <a:off x="14739545" y="7183922"/>
            <a:ext cx="2386536" cy="1447800"/>
          </a:xfrm>
          <a:prstGeom prst="rect">
            <a:avLst/>
          </a:prstGeom>
        </p:spPr>
        <p:txBody>
          <a:bodyPr anchor="t" rtlCol="false" tIns="0" lIns="0" bIns="0" rIns="0">
            <a:spAutoFit/>
          </a:bodyPr>
          <a:lstStyle/>
          <a:p>
            <a:pPr algn="l">
              <a:lnSpc>
                <a:spcPts val="2879"/>
              </a:lnSpc>
            </a:pPr>
            <a:r>
              <a:rPr lang="en-US" sz="2400" i="true">
                <a:solidFill>
                  <a:srgbClr val="64748B"/>
                </a:solidFill>
                <a:latin typeface="Inter Italics"/>
                <a:ea typeface="Inter Italics"/>
                <a:cs typeface="Inter Italics"/>
                <a:sym typeface="Inter Italics"/>
              </a:rPr>
              <a:t>Figure 8. Transformer model for image. </a:t>
            </a:r>
          </a:p>
        </p:txBody>
      </p:sp>
    </p:spTree>
  </p:cSld>
  <p:clrMapOvr>
    <a:masterClrMapping/>
  </p:clrMapOvr>
  <p:transition spd="slow">
    <p:cover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AF4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223" t="0" r="-223" b="0"/>
            </a:stretch>
          </a:blipFill>
        </p:spPr>
      </p:sp>
      <p:grpSp>
        <p:nvGrpSpPr>
          <p:cNvPr name="Group 3" id="3"/>
          <p:cNvGrpSpPr/>
          <p:nvPr/>
        </p:nvGrpSpPr>
        <p:grpSpPr>
          <a:xfrm rot="0">
            <a:off x="0" y="0"/>
            <a:ext cx="18288000" cy="133350"/>
            <a:chOff x="0" y="0"/>
            <a:chExt cx="24384000" cy="177800"/>
          </a:xfrm>
        </p:grpSpPr>
        <p:sp>
          <p:nvSpPr>
            <p:cNvPr name="Freeform 4" id="4"/>
            <p:cNvSpPr/>
            <p:nvPr/>
          </p:nvSpPr>
          <p:spPr>
            <a:xfrm flipH="false" flipV="false" rot="0">
              <a:off x="0" y="0"/>
              <a:ext cx="24384000" cy="177800"/>
            </a:xfrm>
            <a:custGeom>
              <a:avLst/>
              <a:gdLst/>
              <a:ahLst/>
              <a:cxnLst/>
              <a:rect r="r" b="b" t="t" l="l"/>
              <a:pathLst>
                <a:path h="177800" w="24384000">
                  <a:moveTo>
                    <a:pt x="0" y="0"/>
                  </a:moveTo>
                  <a:lnTo>
                    <a:pt x="24384000" y="0"/>
                  </a:lnTo>
                  <a:lnTo>
                    <a:pt x="24384000" y="177800"/>
                  </a:lnTo>
                  <a:lnTo>
                    <a:pt x="0" y="177800"/>
                  </a:lnTo>
                  <a:close/>
                </a:path>
              </a:pathLst>
            </a:custGeom>
            <a:solidFill>
              <a:srgbClr val="0B1F3A"/>
            </a:solidFill>
          </p:spPr>
        </p:sp>
        <p:sp>
          <p:nvSpPr>
            <p:cNvPr name="TextBox 5" id="5"/>
            <p:cNvSpPr txBox="true"/>
            <p:nvPr/>
          </p:nvSpPr>
          <p:spPr>
            <a:xfrm>
              <a:off x="0" y="-38100"/>
              <a:ext cx="24384000" cy="2159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714823" y="496929"/>
            <a:ext cx="16858355" cy="762000"/>
          </a:xfrm>
          <a:prstGeom prst="rect">
            <a:avLst/>
          </a:prstGeom>
        </p:spPr>
        <p:txBody>
          <a:bodyPr anchor="t" rtlCol="false" tIns="0" lIns="0" bIns="0" rIns="0">
            <a:spAutoFit/>
          </a:bodyPr>
          <a:lstStyle/>
          <a:p>
            <a:pPr algn="l">
              <a:lnSpc>
                <a:spcPts val="6048"/>
              </a:lnSpc>
            </a:pPr>
            <a:r>
              <a:rPr lang="en-US" sz="5040" b="true">
                <a:solidFill>
                  <a:srgbClr val="0B1F3A"/>
                </a:solidFill>
                <a:latin typeface="League Spartan"/>
                <a:ea typeface="League Spartan"/>
                <a:cs typeface="League Spartan"/>
                <a:sym typeface="League Spartan"/>
              </a:rPr>
              <a:t>Loss and evaluation</a:t>
            </a:r>
          </a:p>
        </p:txBody>
      </p:sp>
      <p:sp>
        <p:nvSpPr>
          <p:cNvPr name="TextBox 7" id="7"/>
          <p:cNvSpPr txBox="true"/>
          <p:nvPr/>
        </p:nvSpPr>
        <p:spPr>
          <a:xfrm rot="0">
            <a:off x="853440" y="1960245"/>
            <a:ext cx="2172444" cy="581025"/>
          </a:xfrm>
          <a:prstGeom prst="rect">
            <a:avLst/>
          </a:prstGeom>
        </p:spPr>
        <p:txBody>
          <a:bodyPr anchor="t" rtlCol="false" tIns="0" lIns="0" bIns="0" rIns="0">
            <a:spAutoFit/>
          </a:bodyPr>
          <a:lstStyle/>
          <a:p>
            <a:pPr algn="l">
              <a:lnSpc>
                <a:spcPts val="4680"/>
              </a:lnSpc>
            </a:pPr>
            <a:r>
              <a:rPr lang="en-US" sz="3900" b="true">
                <a:solidFill>
                  <a:srgbClr val="0E7490"/>
                </a:solidFill>
                <a:latin typeface="League Spartan"/>
                <a:ea typeface="League Spartan"/>
                <a:cs typeface="League Spartan"/>
                <a:sym typeface="League Spartan"/>
              </a:rPr>
              <a:t>Training</a:t>
            </a:r>
          </a:p>
        </p:txBody>
      </p:sp>
      <p:sp>
        <p:nvSpPr>
          <p:cNvPr name="TextBox 8" id="8"/>
          <p:cNvSpPr txBox="true"/>
          <p:nvPr/>
        </p:nvSpPr>
        <p:spPr>
          <a:xfrm rot="0">
            <a:off x="853440" y="2960370"/>
            <a:ext cx="3416350" cy="542925"/>
          </a:xfrm>
          <a:prstGeom prst="rect">
            <a:avLst/>
          </a:prstGeom>
        </p:spPr>
        <p:txBody>
          <a:bodyPr anchor="t" rtlCol="false" tIns="0" lIns="0" bIns="0" rIns="0">
            <a:spAutoFit/>
          </a:bodyPr>
          <a:lstStyle/>
          <a:p>
            <a:pPr algn="l">
              <a:lnSpc>
                <a:spcPts val="4320"/>
              </a:lnSpc>
            </a:pPr>
            <a:r>
              <a:rPr lang="en-US" sz="3600" b="true">
                <a:solidFill>
                  <a:srgbClr val="243447"/>
                </a:solidFill>
                <a:latin typeface="League Spartan"/>
                <a:ea typeface="League Spartan"/>
                <a:cs typeface="League Spartan"/>
                <a:sym typeface="League Spartan"/>
              </a:rPr>
              <a:t>Cross-entropy</a:t>
            </a:r>
          </a:p>
        </p:txBody>
      </p:sp>
      <p:sp>
        <p:nvSpPr>
          <p:cNvPr name="TextBox 9" id="9"/>
          <p:cNvSpPr txBox="true"/>
          <p:nvPr/>
        </p:nvSpPr>
        <p:spPr>
          <a:xfrm rot="0">
            <a:off x="853440" y="3712845"/>
            <a:ext cx="7437120" cy="1638300"/>
          </a:xfrm>
          <a:prstGeom prst="rect">
            <a:avLst/>
          </a:prstGeom>
        </p:spPr>
        <p:txBody>
          <a:bodyPr anchor="t" rtlCol="false" tIns="0" lIns="0" bIns="0" rIns="0">
            <a:spAutoFit/>
          </a:bodyPr>
          <a:lstStyle/>
          <a:p>
            <a:pPr algn="l">
              <a:lnSpc>
                <a:spcPts val="4320"/>
              </a:lnSpc>
            </a:pPr>
            <a:r>
              <a:rPr lang="en-US" sz="3600">
                <a:solidFill>
                  <a:srgbClr val="243447"/>
                </a:solidFill>
                <a:latin typeface="Inter"/>
                <a:ea typeface="Inter"/>
                <a:cs typeface="Inter"/>
                <a:sym typeface="Inter"/>
              </a:rPr>
              <a:t>Train class logits with cross-entropy.</a:t>
            </a:r>
          </a:p>
          <a:p>
            <a:pPr algn="l">
              <a:lnSpc>
                <a:spcPts val="4320"/>
              </a:lnSpc>
            </a:pPr>
            <a:r>
              <a:rPr lang="en-US" sz="3600">
                <a:solidFill>
                  <a:srgbClr val="243447"/>
                </a:solidFill>
                <a:latin typeface="Inter"/>
                <a:ea typeface="Inter"/>
                <a:cs typeface="Inter"/>
                <a:sym typeface="Inter"/>
              </a:rPr>
              <a:t>50 epochs, seed 42.</a:t>
            </a:r>
          </a:p>
        </p:txBody>
      </p:sp>
      <p:sp>
        <p:nvSpPr>
          <p:cNvPr name="TextBox 10" id="10"/>
          <p:cNvSpPr txBox="true"/>
          <p:nvPr/>
        </p:nvSpPr>
        <p:spPr>
          <a:xfrm rot="0">
            <a:off x="853440" y="5855970"/>
            <a:ext cx="4861917" cy="542925"/>
          </a:xfrm>
          <a:prstGeom prst="rect">
            <a:avLst/>
          </a:prstGeom>
        </p:spPr>
        <p:txBody>
          <a:bodyPr anchor="t" rtlCol="false" tIns="0" lIns="0" bIns="0" rIns="0">
            <a:spAutoFit/>
          </a:bodyPr>
          <a:lstStyle/>
          <a:p>
            <a:pPr algn="l">
              <a:lnSpc>
                <a:spcPts val="4320"/>
              </a:lnSpc>
            </a:pPr>
            <a:r>
              <a:rPr lang="en-US" sz="3600" b="true">
                <a:solidFill>
                  <a:srgbClr val="243447"/>
                </a:solidFill>
                <a:latin typeface="League Spartan"/>
                <a:ea typeface="League Spartan"/>
                <a:cs typeface="League Spartan"/>
                <a:sym typeface="League Spartan"/>
              </a:rPr>
              <a:t>Checkpoint selection</a:t>
            </a:r>
          </a:p>
        </p:txBody>
      </p:sp>
      <p:sp>
        <p:nvSpPr>
          <p:cNvPr name="TextBox 11" id="11"/>
          <p:cNvSpPr txBox="true"/>
          <p:nvPr/>
        </p:nvSpPr>
        <p:spPr>
          <a:xfrm rot="0">
            <a:off x="853440" y="6665595"/>
            <a:ext cx="7437120" cy="1095375"/>
          </a:xfrm>
          <a:prstGeom prst="rect">
            <a:avLst/>
          </a:prstGeom>
        </p:spPr>
        <p:txBody>
          <a:bodyPr anchor="t" rtlCol="false" tIns="0" lIns="0" bIns="0" rIns="0">
            <a:spAutoFit/>
          </a:bodyPr>
          <a:lstStyle/>
          <a:p>
            <a:pPr algn="l">
              <a:lnSpc>
                <a:spcPts val="4320"/>
              </a:lnSpc>
            </a:pPr>
            <a:r>
              <a:rPr lang="en-US" sz="3600">
                <a:solidFill>
                  <a:srgbClr val="243447"/>
                </a:solidFill>
                <a:latin typeface="Inter"/>
                <a:ea typeface="Inter"/>
                <a:cs typeface="Inter"/>
                <a:sym typeface="Inter"/>
              </a:rPr>
              <a:t>Keep the epoch with the lowest validation loss.</a:t>
            </a:r>
          </a:p>
        </p:txBody>
      </p:sp>
      <p:sp>
        <p:nvSpPr>
          <p:cNvPr name="TextBox 12" id="12"/>
          <p:cNvSpPr txBox="true"/>
          <p:nvPr/>
        </p:nvSpPr>
        <p:spPr>
          <a:xfrm rot="0">
            <a:off x="9806940" y="1960245"/>
            <a:ext cx="2747962" cy="581025"/>
          </a:xfrm>
          <a:prstGeom prst="rect">
            <a:avLst/>
          </a:prstGeom>
        </p:spPr>
        <p:txBody>
          <a:bodyPr anchor="t" rtlCol="false" tIns="0" lIns="0" bIns="0" rIns="0">
            <a:spAutoFit/>
          </a:bodyPr>
          <a:lstStyle/>
          <a:p>
            <a:pPr algn="l">
              <a:lnSpc>
                <a:spcPts val="4680"/>
              </a:lnSpc>
            </a:pPr>
            <a:r>
              <a:rPr lang="en-US" sz="3900" b="true">
                <a:solidFill>
                  <a:srgbClr val="0E7490"/>
                </a:solidFill>
                <a:latin typeface="League Spartan"/>
                <a:ea typeface="League Spartan"/>
                <a:cs typeface="League Spartan"/>
                <a:sym typeface="League Spartan"/>
              </a:rPr>
              <a:t>Evaluation</a:t>
            </a:r>
          </a:p>
        </p:txBody>
      </p:sp>
      <p:sp>
        <p:nvSpPr>
          <p:cNvPr name="TextBox 13" id="13"/>
          <p:cNvSpPr txBox="true"/>
          <p:nvPr/>
        </p:nvSpPr>
        <p:spPr>
          <a:xfrm rot="0">
            <a:off x="9806940" y="2960370"/>
            <a:ext cx="2161282" cy="542925"/>
          </a:xfrm>
          <a:prstGeom prst="rect">
            <a:avLst/>
          </a:prstGeom>
        </p:spPr>
        <p:txBody>
          <a:bodyPr anchor="t" rtlCol="false" tIns="0" lIns="0" bIns="0" rIns="0">
            <a:spAutoFit/>
          </a:bodyPr>
          <a:lstStyle/>
          <a:p>
            <a:pPr algn="l">
              <a:lnSpc>
                <a:spcPts val="4320"/>
              </a:lnSpc>
            </a:pPr>
            <a:r>
              <a:rPr lang="en-US" sz="3600" b="true">
                <a:solidFill>
                  <a:srgbClr val="243447"/>
                </a:solidFill>
                <a:latin typeface="League Spartan"/>
                <a:ea typeface="League Spartan"/>
                <a:cs typeface="League Spartan"/>
                <a:sym typeface="League Spartan"/>
              </a:rPr>
              <a:t>Accuracy</a:t>
            </a:r>
          </a:p>
        </p:txBody>
      </p:sp>
      <p:sp>
        <p:nvSpPr>
          <p:cNvPr name="TextBox 14" id="14"/>
          <p:cNvSpPr txBox="true"/>
          <p:nvPr/>
        </p:nvSpPr>
        <p:spPr>
          <a:xfrm rot="0">
            <a:off x="9806940" y="3655695"/>
            <a:ext cx="7437120" cy="504825"/>
          </a:xfrm>
          <a:prstGeom prst="rect">
            <a:avLst/>
          </a:prstGeom>
        </p:spPr>
        <p:txBody>
          <a:bodyPr anchor="t" rtlCol="false" tIns="0" lIns="0" bIns="0" rIns="0">
            <a:spAutoFit/>
          </a:bodyPr>
          <a:lstStyle/>
          <a:p>
            <a:pPr algn="l">
              <a:lnSpc>
                <a:spcPts val="3960"/>
              </a:lnSpc>
            </a:pPr>
            <a:r>
              <a:rPr lang="en-US" sz="3300">
                <a:solidFill>
                  <a:srgbClr val="243447"/>
                </a:solidFill>
                <a:latin typeface="Inter"/>
                <a:ea typeface="Inter"/>
                <a:cs typeface="Inter"/>
                <a:sym typeface="Inter"/>
              </a:rPr>
              <a:t>Fraction of correct predictions.</a:t>
            </a:r>
          </a:p>
        </p:txBody>
      </p:sp>
      <p:sp>
        <p:nvSpPr>
          <p:cNvPr name="TextBox 15" id="15"/>
          <p:cNvSpPr txBox="true"/>
          <p:nvPr/>
        </p:nvSpPr>
        <p:spPr>
          <a:xfrm rot="0">
            <a:off x="9806940" y="4827270"/>
            <a:ext cx="2149376" cy="542925"/>
          </a:xfrm>
          <a:prstGeom prst="rect">
            <a:avLst/>
          </a:prstGeom>
        </p:spPr>
        <p:txBody>
          <a:bodyPr anchor="t" rtlCol="false" tIns="0" lIns="0" bIns="0" rIns="0">
            <a:spAutoFit/>
          </a:bodyPr>
          <a:lstStyle/>
          <a:p>
            <a:pPr algn="l">
              <a:lnSpc>
                <a:spcPts val="4320"/>
              </a:lnSpc>
            </a:pPr>
            <a:r>
              <a:rPr lang="en-US" sz="3600" b="true">
                <a:solidFill>
                  <a:srgbClr val="243447"/>
                </a:solidFill>
                <a:latin typeface="League Spartan"/>
                <a:ea typeface="League Spartan"/>
                <a:cs typeface="League Spartan"/>
                <a:sym typeface="League Spartan"/>
              </a:rPr>
              <a:t>Macro-F1</a:t>
            </a:r>
          </a:p>
        </p:txBody>
      </p:sp>
      <p:sp>
        <p:nvSpPr>
          <p:cNvPr name="TextBox 16" id="16"/>
          <p:cNvSpPr txBox="true"/>
          <p:nvPr/>
        </p:nvSpPr>
        <p:spPr>
          <a:xfrm rot="0">
            <a:off x="9806940" y="5522595"/>
            <a:ext cx="7437120" cy="1000125"/>
          </a:xfrm>
          <a:prstGeom prst="rect">
            <a:avLst/>
          </a:prstGeom>
        </p:spPr>
        <p:txBody>
          <a:bodyPr anchor="t" rtlCol="false" tIns="0" lIns="0" bIns="0" rIns="0">
            <a:spAutoFit/>
          </a:bodyPr>
          <a:lstStyle/>
          <a:p>
            <a:pPr algn="l">
              <a:lnSpc>
                <a:spcPts val="3960"/>
              </a:lnSpc>
            </a:pPr>
            <a:r>
              <a:rPr lang="en-US" sz="3300">
                <a:solidFill>
                  <a:srgbClr val="243447"/>
                </a:solidFill>
                <a:latin typeface="Inter"/>
                <a:ea typeface="Inter"/>
                <a:cs typeface="Inter"/>
                <a:sym typeface="Inter"/>
              </a:rPr>
              <a:t>Average class F1, with equal weight for each class.</a:t>
            </a:r>
          </a:p>
        </p:txBody>
      </p:sp>
      <p:sp>
        <p:nvSpPr>
          <p:cNvPr name="TextBox 17" id="17"/>
          <p:cNvSpPr txBox="true"/>
          <p:nvPr/>
        </p:nvSpPr>
        <p:spPr>
          <a:xfrm rot="0">
            <a:off x="9806940" y="7056120"/>
            <a:ext cx="3569047" cy="542925"/>
          </a:xfrm>
          <a:prstGeom prst="rect">
            <a:avLst/>
          </a:prstGeom>
        </p:spPr>
        <p:txBody>
          <a:bodyPr anchor="t" rtlCol="false" tIns="0" lIns="0" bIns="0" rIns="0">
            <a:spAutoFit/>
          </a:bodyPr>
          <a:lstStyle/>
          <a:p>
            <a:pPr algn="l">
              <a:lnSpc>
                <a:spcPts val="4320"/>
              </a:lnSpc>
            </a:pPr>
            <a:r>
              <a:rPr lang="en-US" sz="3600" b="true">
                <a:solidFill>
                  <a:srgbClr val="243447"/>
                </a:solidFill>
                <a:latin typeface="League Spartan"/>
                <a:ea typeface="League Spartan"/>
                <a:cs typeface="League Spartan"/>
                <a:sym typeface="League Spartan"/>
              </a:rPr>
              <a:t>Per-class recall</a:t>
            </a:r>
          </a:p>
        </p:txBody>
      </p:sp>
      <p:sp>
        <p:nvSpPr>
          <p:cNvPr name="TextBox 18" id="18"/>
          <p:cNvSpPr txBox="true"/>
          <p:nvPr/>
        </p:nvSpPr>
        <p:spPr>
          <a:xfrm rot="0">
            <a:off x="9806940" y="7751445"/>
            <a:ext cx="7437120" cy="1000125"/>
          </a:xfrm>
          <a:prstGeom prst="rect">
            <a:avLst/>
          </a:prstGeom>
        </p:spPr>
        <p:txBody>
          <a:bodyPr anchor="t" rtlCol="false" tIns="0" lIns="0" bIns="0" rIns="0">
            <a:spAutoFit/>
          </a:bodyPr>
          <a:lstStyle/>
          <a:p>
            <a:pPr algn="l">
              <a:lnSpc>
                <a:spcPts val="3960"/>
              </a:lnSpc>
            </a:pPr>
            <a:r>
              <a:rPr lang="en-US" sz="3300">
                <a:solidFill>
                  <a:srgbClr val="243447"/>
                </a:solidFill>
                <a:latin typeface="Inter"/>
                <a:ea typeface="Inter"/>
                <a:cs typeface="Inter"/>
                <a:sym typeface="Inter"/>
              </a:rPr>
              <a:t>Fraction of each true class classified correctly.</a:t>
            </a:r>
          </a:p>
        </p:txBody>
      </p:sp>
    </p:spTree>
  </p:cSld>
  <p:clrMapOvr>
    <a:masterClrMapping/>
  </p:clrMapOvr>
  <p:transition spd="slow">
    <p:cover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AF4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208" t="0" r="-208" b="0"/>
            </a:stretch>
          </a:blipFill>
        </p:spPr>
      </p:sp>
      <p:grpSp>
        <p:nvGrpSpPr>
          <p:cNvPr name="Group 3" id="3"/>
          <p:cNvGrpSpPr/>
          <p:nvPr/>
        </p:nvGrpSpPr>
        <p:grpSpPr>
          <a:xfrm rot="0">
            <a:off x="0" y="0"/>
            <a:ext cx="18288000" cy="133350"/>
            <a:chOff x="0" y="0"/>
            <a:chExt cx="24384000" cy="177800"/>
          </a:xfrm>
        </p:grpSpPr>
        <p:sp>
          <p:nvSpPr>
            <p:cNvPr name="Freeform 4" id="4"/>
            <p:cNvSpPr/>
            <p:nvPr/>
          </p:nvSpPr>
          <p:spPr>
            <a:xfrm flipH="false" flipV="false" rot="0">
              <a:off x="0" y="0"/>
              <a:ext cx="24384000" cy="177800"/>
            </a:xfrm>
            <a:custGeom>
              <a:avLst/>
              <a:gdLst/>
              <a:ahLst/>
              <a:cxnLst/>
              <a:rect r="r" b="b" t="t" l="l"/>
              <a:pathLst>
                <a:path h="177800" w="24384000">
                  <a:moveTo>
                    <a:pt x="0" y="0"/>
                  </a:moveTo>
                  <a:lnTo>
                    <a:pt x="24384000" y="0"/>
                  </a:lnTo>
                  <a:lnTo>
                    <a:pt x="24384000" y="177800"/>
                  </a:lnTo>
                  <a:lnTo>
                    <a:pt x="0" y="177800"/>
                  </a:lnTo>
                  <a:close/>
                </a:path>
              </a:pathLst>
            </a:custGeom>
            <a:solidFill>
              <a:srgbClr val="0B1F3A"/>
            </a:solidFill>
          </p:spPr>
        </p:sp>
      </p:grpSp>
      <p:sp>
        <p:nvSpPr>
          <p:cNvPr name="TextBox 5" id="5"/>
          <p:cNvSpPr txBox="true"/>
          <p:nvPr/>
        </p:nvSpPr>
        <p:spPr>
          <a:xfrm rot="0">
            <a:off x="720090" y="598170"/>
            <a:ext cx="16962120" cy="790575"/>
          </a:xfrm>
          <a:prstGeom prst="rect">
            <a:avLst/>
          </a:prstGeom>
        </p:spPr>
        <p:txBody>
          <a:bodyPr anchor="t" rtlCol="false" tIns="0" lIns="0" bIns="0" rIns="0">
            <a:spAutoFit/>
          </a:bodyPr>
          <a:lstStyle/>
          <a:p>
            <a:pPr algn="l">
              <a:lnSpc>
                <a:spcPts val="6120"/>
              </a:lnSpc>
            </a:pPr>
            <a:r>
              <a:rPr lang="en-US" sz="5100" b="true">
                <a:solidFill>
                  <a:srgbClr val="0B1F3A"/>
                </a:solidFill>
                <a:latin typeface="League Spartan"/>
                <a:ea typeface="League Spartan"/>
                <a:cs typeface="League Spartan"/>
                <a:sym typeface="League Spartan"/>
              </a:rPr>
              <a:t>Test performance</a:t>
            </a:r>
          </a:p>
        </p:txBody>
      </p:sp>
      <p:sp>
        <p:nvSpPr>
          <p:cNvPr name="TextBox 6" id="6"/>
          <p:cNvSpPr txBox="true"/>
          <p:nvPr/>
        </p:nvSpPr>
        <p:spPr>
          <a:xfrm rot="0">
            <a:off x="4892040" y="1950720"/>
            <a:ext cx="1432027" cy="523875"/>
          </a:xfrm>
          <a:prstGeom prst="rect">
            <a:avLst/>
          </a:prstGeom>
        </p:spPr>
        <p:txBody>
          <a:bodyPr anchor="t" rtlCol="false" tIns="0" lIns="0" bIns="0" rIns="0">
            <a:spAutoFit/>
          </a:bodyPr>
          <a:lstStyle/>
          <a:p>
            <a:pPr algn="l">
              <a:lnSpc>
                <a:spcPts val="4140"/>
              </a:lnSpc>
            </a:pPr>
            <a:r>
              <a:rPr lang="en-US" sz="3450" b="true">
                <a:solidFill>
                  <a:srgbClr val="0E7490"/>
                </a:solidFill>
                <a:latin typeface="Inter Bold"/>
                <a:ea typeface="Inter Bold"/>
                <a:cs typeface="Inter Bold"/>
                <a:sym typeface="Inter Bold"/>
              </a:rPr>
              <a:t>MNIST</a:t>
            </a:r>
          </a:p>
        </p:txBody>
      </p:sp>
      <p:sp>
        <p:nvSpPr>
          <p:cNvPr name="TextBox 7" id="7"/>
          <p:cNvSpPr txBox="true"/>
          <p:nvPr/>
        </p:nvSpPr>
        <p:spPr>
          <a:xfrm rot="0">
            <a:off x="9178290" y="1950720"/>
            <a:ext cx="3304880" cy="523875"/>
          </a:xfrm>
          <a:prstGeom prst="rect">
            <a:avLst/>
          </a:prstGeom>
        </p:spPr>
        <p:txBody>
          <a:bodyPr anchor="t" rtlCol="false" tIns="0" lIns="0" bIns="0" rIns="0">
            <a:spAutoFit/>
          </a:bodyPr>
          <a:lstStyle/>
          <a:p>
            <a:pPr algn="l">
              <a:lnSpc>
                <a:spcPts val="4140"/>
              </a:lnSpc>
            </a:pPr>
            <a:r>
              <a:rPr lang="en-US" sz="3450" b="true">
                <a:solidFill>
                  <a:srgbClr val="0E7490"/>
                </a:solidFill>
                <a:latin typeface="Inter Bold"/>
                <a:ea typeface="Inter Bold"/>
                <a:cs typeface="Inter Bold"/>
                <a:sym typeface="Inter Bold"/>
              </a:rPr>
              <a:t>Fashion-MNIST</a:t>
            </a:r>
          </a:p>
        </p:txBody>
      </p:sp>
      <p:sp>
        <p:nvSpPr>
          <p:cNvPr name="TextBox 8" id="8"/>
          <p:cNvSpPr txBox="true"/>
          <p:nvPr/>
        </p:nvSpPr>
        <p:spPr>
          <a:xfrm rot="0">
            <a:off x="14131290" y="1950720"/>
            <a:ext cx="1992211" cy="523875"/>
          </a:xfrm>
          <a:prstGeom prst="rect">
            <a:avLst/>
          </a:prstGeom>
        </p:spPr>
        <p:txBody>
          <a:bodyPr anchor="t" rtlCol="false" tIns="0" lIns="0" bIns="0" rIns="0">
            <a:spAutoFit/>
          </a:bodyPr>
          <a:lstStyle/>
          <a:p>
            <a:pPr algn="l">
              <a:lnSpc>
                <a:spcPts val="4140"/>
              </a:lnSpc>
            </a:pPr>
            <a:r>
              <a:rPr lang="en-US" sz="3450" b="true">
                <a:solidFill>
                  <a:srgbClr val="0E7490"/>
                </a:solidFill>
                <a:latin typeface="Inter Bold"/>
                <a:ea typeface="Inter Bold"/>
                <a:cs typeface="Inter Bold"/>
                <a:sym typeface="Inter Bold"/>
              </a:rPr>
              <a:t>CIFAR-10</a:t>
            </a:r>
          </a:p>
        </p:txBody>
      </p:sp>
      <p:graphicFrame>
        <p:nvGraphicFramePr>
          <p:cNvPr name="Table 9" id="9"/>
          <p:cNvGraphicFramePr>
            <a:graphicFrameLocks noGrp="true"/>
          </p:cNvGraphicFramePr>
          <p:nvPr/>
        </p:nvGraphicFramePr>
        <p:xfrm>
          <a:off x="762000" y="2667000"/>
          <a:ext cx="16611600" cy="5334000"/>
        </p:xfrm>
        <a:graphic>
          <a:graphicData uri="http://schemas.openxmlformats.org/drawingml/2006/table">
            <a:tbl>
              <a:tblPr/>
              <a:tblGrid>
                <a:gridCol w="3348375"/>
                <a:gridCol w="2210537"/>
                <a:gridCol w="2210537"/>
                <a:gridCol w="2210537"/>
                <a:gridCol w="2210537"/>
                <a:gridCol w="2210537"/>
                <a:gridCol w="2210537"/>
              </a:tblGrid>
              <a:tr h="762000">
                <a:tc>
                  <a:txBody>
                    <a:bodyPr anchor="t" rtlCol="false"/>
                    <a:lstStyle/>
                    <a:p>
                      <a:pPr algn="l">
                        <a:lnSpc>
                          <a:spcPts val="3778"/>
                        </a:lnSpc>
                        <a:defRPr/>
                      </a:pPr>
                      <a:r>
                        <a:rPr lang="en-US" sz="3150" b="true">
                          <a:solidFill>
                            <a:srgbClr val="222222"/>
                          </a:solidFill>
                          <a:latin typeface="Arial Bold"/>
                          <a:ea typeface="Arial Bold"/>
                          <a:cs typeface="Arial Bold"/>
                          <a:sym typeface="Arial Bold"/>
                        </a:rPr>
                        <a:t>Model</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EDF5FB"/>
                    </a:solidFill>
                  </a:tcPr>
                </a:tc>
                <a:tc>
                  <a:txBody>
                    <a:bodyPr anchor="t" rtlCol="false"/>
                    <a:lstStyle/>
                    <a:p>
                      <a:pPr algn="l">
                        <a:lnSpc>
                          <a:spcPts val="3778"/>
                        </a:lnSpc>
                        <a:defRPr/>
                      </a:pPr>
                      <a:r>
                        <a:rPr lang="en-US" sz="3150" b="true">
                          <a:solidFill>
                            <a:srgbClr val="222222"/>
                          </a:solidFill>
                          <a:latin typeface="Arial Bold"/>
                          <a:ea typeface="Arial Bold"/>
                          <a:cs typeface="Arial Bold"/>
                          <a:sym typeface="Arial Bold"/>
                        </a:rPr>
                        <a:t>Acc. %</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EDF5FB"/>
                    </a:solidFill>
                  </a:tcPr>
                </a:tc>
                <a:tc>
                  <a:txBody>
                    <a:bodyPr anchor="t" rtlCol="false"/>
                    <a:lstStyle/>
                    <a:p>
                      <a:pPr algn="l">
                        <a:lnSpc>
                          <a:spcPts val="3778"/>
                        </a:lnSpc>
                        <a:defRPr/>
                      </a:pPr>
                      <a:r>
                        <a:rPr lang="en-US" sz="3150" b="true">
                          <a:solidFill>
                            <a:srgbClr val="222222"/>
                          </a:solidFill>
                          <a:latin typeface="Arial Bold"/>
                          <a:ea typeface="Arial Bold"/>
                          <a:cs typeface="Arial Bold"/>
                          <a:sym typeface="Arial Bold"/>
                        </a:rPr>
                        <a:t>F1 %</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EDF5FB"/>
                    </a:solidFill>
                  </a:tcPr>
                </a:tc>
                <a:tc>
                  <a:txBody>
                    <a:bodyPr anchor="t" rtlCol="false"/>
                    <a:lstStyle/>
                    <a:p>
                      <a:pPr algn="l">
                        <a:lnSpc>
                          <a:spcPts val="3778"/>
                        </a:lnSpc>
                        <a:defRPr/>
                      </a:pPr>
                      <a:r>
                        <a:rPr lang="en-US" sz="3150" b="true">
                          <a:solidFill>
                            <a:srgbClr val="222222"/>
                          </a:solidFill>
                          <a:latin typeface="Arial Bold"/>
                          <a:ea typeface="Arial Bold"/>
                          <a:cs typeface="Arial Bold"/>
                          <a:sym typeface="Arial Bold"/>
                        </a:rPr>
                        <a:t>Acc. %</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EDF5FB"/>
                    </a:solidFill>
                  </a:tcPr>
                </a:tc>
                <a:tc>
                  <a:txBody>
                    <a:bodyPr anchor="t" rtlCol="false"/>
                    <a:lstStyle/>
                    <a:p>
                      <a:pPr algn="l">
                        <a:lnSpc>
                          <a:spcPts val="3778"/>
                        </a:lnSpc>
                        <a:defRPr/>
                      </a:pPr>
                      <a:r>
                        <a:rPr lang="en-US" sz="3150" b="true">
                          <a:solidFill>
                            <a:srgbClr val="222222"/>
                          </a:solidFill>
                          <a:latin typeface="Arial Bold"/>
                          <a:ea typeface="Arial Bold"/>
                          <a:cs typeface="Arial Bold"/>
                          <a:sym typeface="Arial Bold"/>
                        </a:rPr>
                        <a:t>F1 %</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EDF5FB"/>
                    </a:solidFill>
                  </a:tcPr>
                </a:tc>
                <a:tc>
                  <a:txBody>
                    <a:bodyPr anchor="t" rtlCol="false"/>
                    <a:lstStyle/>
                    <a:p>
                      <a:pPr algn="l">
                        <a:lnSpc>
                          <a:spcPts val="3778"/>
                        </a:lnSpc>
                        <a:defRPr/>
                      </a:pPr>
                      <a:r>
                        <a:rPr lang="en-US" sz="3150" b="true">
                          <a:solidFill>
                            <a:srgbClr val="222222"/>
                          </a:solidFill>
                          <a:latin typeface="Arial Bold"/>
                          <a:ea typeface="Arial Bold"/>
                          <a:cs typeface="Arial Bold"/>
                          <a:sym typeface="Arial Bold"/>
                        </a:rPr>
                        <a:t>Acc. %</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EDF5FB"/>
                    </a:solidFill>
                  </a:tcPr>
                </a:tc>
                <a:tc>
                  <a:txBody>
                    <a:bodyPr anchor="t" rtlCol="false"/>
                    <a:lstStyle/>
                    <a:p>
                      <a:pPr algn="l">
                        <a:lnSpc>
                          <a:spcPts val="3778"/>
                        </a:lnSpc>
                        <a:defRPr/>
                      </a:pPr>
                      <a:r>
                        <a:rPr lang="en-US" sz="3150" b="true">
                          <a:solidFill>
                            <a:srgbClr val="222222"/>
                          </a:solidFill>
                          <a:latin typeface="Arial Bold"/>
                          <a:ea typeface="Arial Bold"/>
                          <a:cs typeface="Arial Bold"/>
                          <a:sym typeface="Arial Bold"/>
                        </a:rPr>
                        <a:t>F1 %</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EDF5FB"/>
                    </a:solidFill>
                  </a:tcPr>
                </a:tc>
              </a:tr>
              <a:tr h="762000">
                <a:tc>
                  <a:txBody>
                    <a:bodyPr anchor="t" rtlCol="false"/>
                    <a:lstStyle/>
                    <a:p>
                      <a:pPr algn="l">
                        <a:lnSpc>
                          <a:spcPts val="3778"/>
                        </a:lnSpc>
                        <a:defRPr/>
                      </a:pPr>
                      <a:r>
                        <a:rPr lang="en-US" sz="3150">
                          <a:solidFill>
                            <a:srgbClr val="222222"/>
                          </a:solidFill>
                          <a:latin typeface="Arial"/>
                          <a:ea typeface="Arial"/>
                          <a:cs typeface="Arial"/>
                          <a:sym typeface="Arial"/>
                        </a:rPr>
                        <a:t>Linear</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85.68</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85.45</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77.05</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76.94</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35.27</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34.61</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r>
              <a:tr h="762000">
                <a:tc>
                  <a:txBody>
                    <a:bodyPr anchor="t" rtlCol="false"/>
                    <a:lstStyle/>
                    <a:p>
                      <a:pPr algn="l">
                        <a:lnSpc>
                          <a:spcPts val="3778"/>
                        </a:lnSpc>
                        <a:defRPr/>
                      </a:pPr>
                      <a:r>
                        <a:rPr lang="en-US" sz="3150">
                          <a:solidFill>
                            <a:srgbClr val="222222"/>
                          </a:solidFill>
                          <a:latin typeface="Arial"/>
                          <a:ea typeface="Arial"/>
                          <a:cs typeface="Arial"/>
                          <a:sym typeface="Arial"/>
                        </a:rPr>
                        <a:t>MLP</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98.45</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98.44</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87.18</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87.11</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47.67</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46.56</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r>
              <a:tr h="762000">
                <a:tc>
                  <a:txBody>
                    <a:bodyPr anchor="t" rtlCol="false"/>
                    <a:lstStyle/>
                    <a:p>
                      <a:pPr algn="l">
                        <a:lnSpc>
                          <a:spcPts val="3778"/>
                        </a:lnSpc>
                        <a:defRPr/>
                      </a:pPr>
                      <a:r>
                        <a:rPr lang="en-US" sz="3150">
                          <a:solidFill>
                            <a:srgbClr val="222222"/>
                          </a:solidFill>
                          <a:latin typeface="Arial"/>
                          <a:ea typeface="Arial"/>
                          <a:cs typeface="Arial"/>
                          <a:sym typeface="Arial"/>
                        </a:rPr>
                        <a:t>CNN</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300" b="true">
                          <a:solidFill>
                            <a:srgbClr val="2186C4"/>
                          </a:solidFill>
                          <a:latin typeface="Inter Bold"/>
                          <a:ea typeface="Inter Bold"/>
                          <a:cs typeface="Inter Bold"/>
                          <a:sym typeface="Inter Bold"/>
                        </a:rPr>
                        <a:t>99.41</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300" b="true">
                          <a:solidFill>
                            <a:srgbClr val="2186C4"/>
                          </a:solidFill>
                          <a:latin typeface="Inter Bold"/>
                          <a:ea typeface="Inter Bold"/>
                          <a:cs typeface="Inter Bold"/>
                          <a:sym typeface="Inter Bold"/>
                        </a:rPr>
                        <a:t>99.41</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300" b="true">
                          <a:solidFill>
                            <a:srgbClr val="2186C4"/>
                          </a:solidFill>
                          <a:latin typeface="Inter Bold"/>
                          <a:ea typeface="Inter Bold"/>
                          <a:cs typeface="Inter Bold"/>
                          <a:sym typeface="Inter Bold"/>
                        </a:rPr>
                        <a:t>92.59</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300" b="true">
                          <a:solidFill>
                            <a:srgbClr val="2186C4"/>
                          </a:solidFill>
                          <a:latin typeface="Inter Bold"/>
                          <a:ea typeface="Inter Bold"/>
                          <a:cs typeface="Inter Bold"/>
                          <a:sym typeface="Inter Bold"/>
                        </a:rPr>
                        <a:t>92.61</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300" b="true">
                          <a:solidFill>
                            <a:srgbClr val="2186C4"/>
                          </a:solidFill>
                          <a:latin typeface="Inter Bold"/>
                          <a:ea typeface="Inter Bold"/>
                          <a:cs typeface="Inter Bold"/>
                          <a:sym typeface="Inter Bold"/>
                        </a:rPr>
                        <a:t>79.02</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300" b="true">
                          <a:solidFill>
                            <a:srgbClr val="2186C4"/>
                          </a:solidFill>
                          <a:latin typeface="Inter Bold"/>
                          <a:ea typeface="Inter Bold"/>
                          <a:cs typeface="Inter Bold"/>
                          <a:sym typeface="Inter Bold"/>
                        </a:rPr>
                        <a:t>78.80</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r>
              <a:tr h="762000">
                <a:tc>
                  <a:txBody>
                    <a:bodyPr anchor="t" rtlCol="false"/>
                    <a:lstStyle/>
                    <a:p>
                      <a:pPr algn="l">
                        <a:lnSpc>
                          <a:spcPts val="3778"/>
                        </a:lnSpc>
                        <a:defRPr/>
                      </a:pPr>
                      <a:r>
                        <a:rPr lang="en-US" sz="3150">
                          <a:solidFill>
                            <a:srgbClr val="222222"/>
                          </a:solidFill>
                          <a:latin typeface="Arial"/>
                          <a:ea typeface="Arial"/>
                          <a:cs typeface="Arial"/>
                          <a:sym typeface="Arial"/>
                        </a:rPr>
                        <a:t>GRU</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99.24</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99.23</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89.88</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89.90</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64.24</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150">
                          <a:solidFill>
                            <a:srgbClr val="222222"/>
                          </a:solidFill>
                          <a:latin typeface="Arial"/>
                          <a:ea typeface="Arial"/>
                          <a:cs typeface="Arial"/>
                          <a:sym typeface="Arial"/>
                        </a:rPr>
                        <a:t>64.01</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r>
              <a:tr h="762000">
                <a:tc>
                  <a:txBody>
                    <a:bodyPr anchor="t" rtlCol="false"/>
                    <a:lstStyle/>
                    <a:p>
                      <a:pPr algn="l">
                        <a:lnSpc>
                          <a:spcPts val="3960"/>
                        </a:lnSpc>
                        <a:defRPr/>
                      </a:pPr>
                      <a:r>
                        <a:rPr lang="en-US" sz="3300">
                          <a:solidFill>
                            <a:srgbClr val="222222"/>
                          </a:solidFill>
                          <a:latin typeface="Arial"/>
                          <a:ea typeface="Arial"/>
                          <a:cs typeface="Arial"/>
                          <a:sym typeface="Arial"/>
                        </a:rPr>
                        <a:t>LSTM</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960"/>
                        </a:lnSpc>
                        <a:defRPr/>
                      </a:pPr>
                      <a:r>
                        <a:rPr lang="en-US" sz="3300">
                          <a:solidFill>
                            <a:srgbClr val="222222"/>
                          </a:solidFill>
                          <a:latin typeface="Arial"/>
                          <a:ea typeface="Arial"/>
                          <a:cs typeface="Arial"/>
                          <a:sym typeface="Arial"/>
                        </a:rPr>
                        <a:t>99.27</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960"/>
                        </a:lnSpc>
                        <a:defRPr/>
                      </a:pPr>
                      <a:r>
                        <a:rPr lang="en-US" sz="3300">
                          <a:solidFill>
                            <a:srgbClr val="222222"/>
                          </a:solidFill>
                          <a:latin typeface="Arial"/>
                          <a:ea typeface="Arial"/>
                          <a:cs typeface="Arial"/>
                          <a:sym typeface="Arial"/>
                        </a:rPr>
                        <a:t>99.26</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960"/>
                        </a:lnSpc>
                        <a:defRPr/>
                      </a:pPr>
                      <a:r>
                        <a:rPr lang="en-US" sz="3300">
                          <a:solidFill>
                            <a:srgbClr val="222222"/>
                          </a:solidFill>
                          <a:latin typeface="Arial"/>
                          <a:ea typeface="Arial"/>
                          <a:cs typeface="Arial"/>
                          <a:sym typeface="Arial"/>
                        </a:rPr>
                        <a:t>89.52</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960"/>
                        </a:lnSpc>
                        <a:defRPr/>
                      </a:pPr>
                      <a:r>
                        <a:rPr lang="en-US" sz="3300">
                          <a:solidFill>
                            <a:srgbClr val="222222"/>
                          </a:solidFill>
                          <a:latin typeface="Arial"/>
                          <a:ea typeface="Arial"/>
                          <a:cs typeface="Arial"/>
                          <a:sym typeface="Arial"/>
                        </a:rPr>
                        <a:t>89.52</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960"/>
                        </a:lnSpc>
                        <a:defRPr/>
                      </a:pPr>
                      <a:r>
                        <a:rPr lang="en-US" sz="3300">
                          <a:solidFill>
                            <a:srgbClr val="222222"/>
                          </a:solidFill>
                          <a:latin typeface="Arial"/>
                          <a:ea typeface="Arial"/>
                          <a:cs typeface="Arial"/>
                          <a:sym typeface="Arial"/>
                        </a:rPr>
                        <a:t>64.42</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960"/>
                        </a:lnSpc>
                        <a:defRPr/>
                      </a:pPr>
                      <a:r>
                        <a:rPr lang="en-US" sz="3300">
                          <a:solidFill>
                            <a:srgbClr val="222222"/>
                          </a:solidFill>
                          <a:latin typeface="Arial"/>
                          <a:ea typeface="Arial"/>
                          <a:cs typeface="Arial"/>
                          <a:sym typeface="Arial"/>
                        </a:rPr>
                        <a:t>64.31</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r>
              <a:tr h="762000">
                <a:tc>
                  <a:txBody>
                    <a:bodyPr anchor="t" rtlCol="false"/>
                    <a:lstStyle/>
                    <a:p>
                      <a:pPr algn="l">
                        <a:lnSpc>
                          <a:spcPts val="3778"/>
                        </a:lnSpc>
                        <a:defRPr/>
                      </a:pPr>
                      <a:r>
                        <a:rPr lang="en-US" sz="3150">
                          <a:solidFill>
                            <a:srgbClr val="222222"/>
                          </a:solidFill>
                          <a:latin typeface="Arial"/>
                          <a:ea typeface="Arial"/>
                          <a:cs typeface="Arial"/>
                          <a:sym typeface="Arial"/>
                        </a:rPr>
                        <a:t>Transformer</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300">
                          <a:solidFill>
                            <a:srgbClr val="222222"/>
                          </a:solidFill>
                          <a:latin typeface="Inter"/>
                          <a:ea typeface="Inter"/>
                          <a:cs typeface="Inter"/>
                          <a:sym typeface="Inter"/>
                        </a:rPr>
                        <a:t>99.31</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300">
                          <a:solidFill>
                            <a:srgbClr val="222222"/>
                          </a:solidFill>
                          <a:latin typeface="Inter"/>
                          <a:ea typeface="Inter"/>
                          <a:cs typeface="Inter"/>
                          <a:sym typeface="Inter"/>
                        </a:rPr>
                        <a:t>99.31</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300">
                          <a:solidFill>
                            <a:srgbClr val="222222"/>
                          </a:solidFill>
                          <a:latin typeface="Inter"/>
                          <a:ea typeface="Inter"/>
                          <a:cs typeface="Inter"/>
                          <a:sym typeface="Inter"/>
                        </a:rPr>
                        <a:t>90.43</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300">
                          <a:solidFill>
                            <a:srgbClr val="222222"/>
                          </a:solidFill>
                          <a:latin typeface="Inter"/>
                          <a:ea typeface="Inter"/>
                          <a:cs typeface="Inter"/>
                          <a:sym typeface="Inter"/>
                        </a:rPr>
                        <a:t>90.40</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300">
                          <a:solidFill>
                            <a:srgbClr val="222222"/>
                          </a:solidFill>
                          <a:latin typeface="Inter"/>
                          <a:ea typeface="Inter"/>
                          <a:cs typeface="Inter"/>
                          <a:sym typeface="Inter"/>
                        </a:rPr>
                        <a:t>68.71</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778"/>
                        </a:lnSpc>
                        <a:defRPr/>
                      </a:pPr>
                      <a:r>
                        <a:rPr lang="en-US" sz="3300">
                          <a:solidFill>
                            <a:srgbClr val="222222"/>
                          </a:solidFill>
                          <a:latin typeface="Inter"/>
                          <a:ea typeface="Inter"/>
                          <a:cs typeface="Inter"/>
                          <a:sym typeface="Inter"/>
                        </a:rPr>
                        <a:t>68.64</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r>
            </a:tbl>
          </a:graphicData>
        </a:graphic>
      </p:graphicFrame>
      <p:sp>
        <p:nvSpPr>
          <p:cNvPr name="TextBox 10" id="10"/>
          <p:cNvSpPr txBox="true"/>
          <p:nvPr/>
        </p:nvSpPr>
        <p:spPr>
          <a:xfrm rot="0">
            <a:off x="853440" y="9075420"/>
            <a:ext cx="16581120" cy="512445"/>
          </a:xfrm>
          <a:prstGeom prst="rect">
            <a:avLst/>
          </a:prstGeom>
        </p:spPr>
        <p:txBody>
          <a:bodyPr anchor="t" rtlCol="false" tIns="0" lIns="0" bIns="0" rIns="0">
            <a:spAutoFit/>
          </a:bodyPr>
          <a:lstStyle/>
          <a:p>
            <a:pPr algn="l">
              <a:lnSpc>
                <a:spcPts val="3960"/>
              </a:lnSpc>
            </a:pPr>
            <a:r>
              <a:rPr lang="en-US" sz="3300">
                <a:solidFill>
                  <a:srgbClr val="243447"/>
                </a:solidFill>
                <a:latin typeface="Inter"/>
                <a:ea typeface="Inter"/>
                <a:cs typeface="Inter"/>
                <a:sym typeface="Inter"/>
              </a:rPr>
              <a:t>CNN spatial leads on all three datasets in these seed-42 runs.</a:t>
            </a:r>
          </a:p>
        </p:txBody>
      </p:sp>
      <p:sp>
        <p:nvSpPr>
          <p:cNvPr name="TextBox 11" id="11"/>
          <p:cNvSpPr txBox="true"/>
          <p:nvPr/>
        </p:nvSpPr>
        <p:spPr>
          <a:xfrm rot="0">
            <a:off x="853440" y="8124825"/>
            <a:ext cx="16581120" cy="407670"/>
          </a:xfrm>
          <a:prstGeom prst="rect">
            <a:avLst/>
          </a:prstGeom>
        </p:spPr>
        <p:txBody>
          <a:bodyPr anchor="t" rtlCol="false" tIns="0" lIns="0" bIns="0" rIns="0">
            <a:spAutoFit/>
          </a:bodyPr>
          <a:lstStyle/>
          <a:p>
            <a:pPr algn="l">
              <a:lnSpc>
                <a:spcPts val="3060"/>
              </a:lnSpc>
            </a:pPr>
            <a:r>
              <a:rPr lang="en-US" sz="2400" i="true">
                <a:solidFill>
                  <a:srgbClr val="64748B"/>
                </a:solidFill>
                <a:latin typeface="Inter Italics"/>
                <a:ea typeface="Inter Italics"/>
                <a:cs typeface="Inter Italics"/>
                <a:sym typeface="Inter Italics"/>
              </a:rPr>
              <a:t>Table 1. Test metrics (%), 50 epochs, seed 42. CNN spatial on all three datasets.</a:t>
            </a:r>
          </a:p>
        </p:txBody>
      </p:sp>
    </p:spTree>
  </p:cSld>
  <p:clrMapOvr>
    <a:masterClrMapping/>
  </p:clrMapOvr>
  <p:transition spd="slow">
    <p:cover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AF4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208" t="0" r="-208" b="0"/>
            </a:stretch>
          </a:blipFill>
        </p:spPr>
      </p:sp>
      <p:grpSp>
        <p:nvGrpSpPr>
          <p:cNvPr name="Group 3" id="3"/>
          <p:cNvGrpSpPr/>
          <p:nvPr/>
        </p:nvGrpSpPr>
        <p:grpSpPr>
          <a:xfrm rot="0">
            <a:off x="0" y="0"/>
            <a:ext cx="18288000" cy="133350"/>
            <a:chOff x="0" y="0"/>
            <a:chExt cx="24384000" cy="177800"/>
          </a:xfrm>
        </p:grpSpPr>
        <p:sp>
          <p:nvSpPr>
            <p:cNvPr name="Freeform 4" id="4"/>
            <p:cNvSpPr/>
            <p:nvPr/>
          </p:nvSpPr>
          <p:spPr>
            <a:xfrm flipH="false" flipV="false" rot="0">
              <a:off x="0" y="0"/>
              <a:ext cx="24384000" cy="177800"/>
            </a:xfrm>
            <a:custGeom>
              <a:avLst/>
              <a:gdLst/>
              <a:ahLst/>
              <a:cxnLst/>
              <a:rect r="r" b="b" t="t" l="l"/>
              <a:pathLst>
                <a:path h="177800" w="24384000">
                  <a:moveTo>
                    <a:pt x="0" y="0"/>
                  </a:moveTo>
                  <a:lnTo>
                    <a:pt x="24384000" y="0"/>
                  </a:lnTo>
                  <a:lnTo>
                    <a:pt x="24384000" y="177800"/>
                  </a:lnTo>
                  <a:lnTo>
                    <a:pt x="0" y="177800"/>
                  </a:lnTo>
                  <a:close/>
                </a:path>
              </a:pathLst>
            </a:custGeom>
            <a:solidFill>
              <a:srgbClr val="0B1F3A"/>
            </a:solidFill>
          </p:spPr>
        </p:sp>
      </p:grpSp>
      <p:sp>
        <p:nvSpPr>
          <p:cNvPr name="TextBox 5" id="5"/>
          <p:cNvSpPr txBox="true"/>
          <p:nvPr/>
        </p:nvSpPr>
        <p:spPr>
          <a:xfrm rot="0">
            <a:off x="720090" y="598170"/>
            <a:ext cx="16962120" cy="790575"/>
          </a:xfrm>
          <a:prstGeom prst="rect">
            <a:avLst/>
          </a:prstGeom>
        </p:spPr>
        <p:txBody>
          <a:bodyPr anchor="t" rtlCol="false" tIns="0" lIns="0" bIns="0" rIns="0">
            <a:spAutoFit/>
          </a:bodyPr>
          <a:lstStyle/>
          <a:p>
            <a:pPr algn="l">
              <a:lnSpc>
                <a:spcPts val="6120"/>
              </a:lnSpc>
            </a:pPr>
            <a:r>
              <a:rPr lang="en-US" sz="5100" b="true">
                <a:solidFill>
                  <a:srgbClr val="0B1F3A"/>
                </a:solidFill>
                <a:latin typeface="League Spartan"/>
                <a:ea typeface="League Spartan"/>
                <a:cs typeface="League Spartan"/>
                <a:sym typeface="League Spartan"/>
              </a:rPr>
              <a:t>Learning curves on Fashion-MNIST</a:t>
            </a:r>
          </a:p>
        </p:txBody>
      </p:sp>
      <p:sp>
        <p:nvSpPr>
          <p:cNvPr name="TextBox 6" id="6"/>
          <p:cNvSpPr txBox="true"/>
          <p:nvPr/>
        </p:nvSpPr>
        <p:spPr>
          <a:xfrm rot="0">
            <a:off x="720090" y="8678751"/>
            <a:ext cx="14879241" cy="479936"/>
          </a:xfrm>
          <a:prstGeom prst="rect">
            <a:avLst/>
          </a:prstGeom>
        </p:spPr>
        <p:txBody>
          <a:bodyPr anchor="t" rtlCol="false" tIns="0" lIns="0" bIns="0" rIns="0">
            <a:spAutoFit/>
          </a:bodyPr>
          <a:lstStyle/>
          <a:p>
            <a:pPr algn="l">
              <a:lnSpc>
                <a:spcPts val="3778"/>
              </a:lnSpc>
            </a:pPr>
            <a:r>
              <a:rPr lang="en-US" sz="3150">
                <a:solidFill>
                  <a:srgbClr val="243447"/>
                </a:solidFill>
                <a:latin typeface="Inter"/>
                <a:ea typeface="Inter"/>
                <a:cs typeface="Inter"/>
                <a:sym typeface="Inter"/>
              </a:rPr>
              <a:t>CNN spatial reaches the lowest validation loss among the six models.</a:t>
            </a:r>
          </a:p>
        </p:txBody>
      </p:sp>
      <p:sp>
        <p:nvSpPr>
          <p:cNvPr name="TextBox 7" id="7"/>
          <p:cNvSpPr txBox="true"/>
          <p:nvPr/>
        </p:nvSpPr>
        <p:spPr>
          <a:xfrm rot="0">
            <a:off x="720090" y="9335976"/>
            <a:ext cx="15544648" cy="479936"/>
          </a:xfrm>
          <a:prstGeom prst="rect">
            <a:avLst/>
          </a:prstGeom>
        </p:spPr>
        <p:txBody>
          <a:bodyPr anchor="t" rtlCol="false" tIns="0" lIns="0" bIns="0" rIns="0">
            <a:spAutoFit/>
          </a:bodyPr>
          <a:lstStyle/>
          <a:p>
            <a:pPr algn="l">
              <a:lnSpc>
                <a:spcPts val="3778"/>
              </a:lnSpc>
            </a:pPr>
            <a:r>
              <a:rPr lang="en-US" sz="3150">
                <a:solidFill>
                  <a:srgbClr val="243447"/>
                </a:solidFill>
                <a:latin typeface="Inter"/>
                <a:ea typeface="Inter"/>
                <a:cs typeface="Inter"/>
                <a:sym typeface="Inter"/>
              </a:rPr>
              <a:t>Best CNN checkpoint: epoch 42, validation loss 0.1948.</a:t>
            </a:r>
          </a:p>
        </p:txBody>
      </p:sp>
      <p:sp>
        <p:nvSpPr>
          <p:cNvPr name="TextBox 8" id="8"/>
          <p:cNvSpPr txBox="true"/>
          <p:nvPr/>
        </p:nvSpPr>
        <p:spPr>
          <a:xfrm rot="0">
            <a:off x="720090" y="8078676"/>
            <a:ext cx="16581120" cy="381000"/>
          </a:xfrm>
          <a:prstGeom prst="rect">
            <a:avLst/>
          </a:prstGeom>
        </p:spPr>
        <p:txBody>
          <a:bodyPr anchor="t" rtlCol="false" tIns="0" lIns="0" bIns="0" rIns="0">
            <a:spAutoFit/>
          </a:bodyPr>
          <a:lstStyle/>
          <a:p>
            <a:pPr algn="l">
              <a:lnSpc>
                <a:spcPts val="3060"/>
              </a:lnSpc>
            </a:pPr>
            <a:r>
              <a:rPr lang="en-US" sz="2550" i="true">
                <a:solidFill>
                  <a:srgbClr val="64748B"/>
                </a:solidFill>
                <a:latin typeface="Inter Italics"/>
                <a:ea typeface="Inter Italics"/>
                <a:cs typeface="Inter Italics"/>
                <a:sym typeface="Inter Italics"/>
              </a:rPr>
              <a:t>Figure 9. Training and validation loss over 50 epochs.</a:t>
            </a:r>
          </a:p>
        </p:txBody>
      </p:sp>
      <p:grpSp>
        <p:nvGrpSpPr>
          <p:cNvPr name="Group 9" id="9"/>
          <p:cNvGrpSpPr/>
          <p:nvPr/>
        </p:nvGrpSpPr>
        <p:grpSpPr>
          <a:xfrm rot="0">
            <a:off x="720090" y="1570673"/>
            <a:ext cx="15544800" cy="6290415"/>
            <a:chOff x="0" y="0"/>
            <a:chExt cx="20726400" cy="8387220"/>
          </a:xfrm>
        </p:grpSpPr>
        <p:sp>
          <p:nvSpPr>
            <p:cNvPr name="Freeform 10" id="10"/>
            <p:cNvSpPr/>
            <p:nvPr/>
          </p:nvSpPr>
          <p:spPr>
            <a:xfrm flipH="false" flipV="false" rot="0">
              <a:off x="0" y="0"/>
              <a:ext cx="20726400" cy="8387207"/>
            </a:xfrm>
            <a:custGeom>
              <a:avLst/>
              <a:gdLst/>
              <a:ahLst/>
              <a:cxnLst/>
              <a:rect r="r" b="b" t="t" l="l"/>
              <a:pathLst>
                <a:path h="8387207" w="20726400">
                  <a:moveTo>
                    <a:pt x="0" y="0"/>
                  </a:moveTo>
                  <a:lnTo>
                    <a:pt x="20726400" y="0"/>
                  </a:lnTo>
                  <a:lnTo>
                    <a:pt x="20726400" y="8387207"/>
                  </a:lnTo>
                  <a:lnTo>
                    <a:pt x="0" y="8387207"/>
                  </a:lnTo>
                  <a:lnTo>
                    <a:pt x="0" y="0"/>
                  </a:lnTo>
                  <a:close/>
                </a:path>
              </a:pathLst>
            </a:custGeom>
            <a:blipFill>
              <a:blip r:embed="rId5"/>
              <a:stretch>
                <a:fillRect l="0" t="0"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AF4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208" t="0" r="-208" b="0"/>
            </a:stretch>
          </a:blipFill>
        </p:spPr>
      </p:sp>
      <p:grpSp>
        <p:nvGrpSpPr>
          <p:cNvPr name="Group 3" id="3"/>
          <p:cNvGrpSpPr/>
          <p:nvPr/>
        </p:nvGrpSpPr>
        <p:grpSpPr>
          <a:xfrm rot="0">
            <a:off x="0" y="0"/>
            <a:ext cx="18288000" cy="133350"/>
            <a:chOff x="0" y="0"/>
            <a:chExt cx="24384000" cy="177800"/>
          </a:xfrm>
        </p:grpSpPr>
        <p:sp>
          <p:nvSpPr>
            <p:cNvPr name="Freeform 4" id="4"/>
            <p:cNvSpPr/>
            <p:nvPr/>
          </p:nvSpPr>
          <p:spPr>
            <a:xfrm flipH="false" flipV="false" rot="0">
              <a:off x="0" y="0"/>
              <a:ext cx="24384000" cy="177800"/>
            </a:xfrm>
            <a:custGeom>
              <a:avLst/>
              <a:gdLst/>
              <a:ahLst/>
              <a:cxnLst/>
              <a:rect r="r" b="b" t="t" l="l"/>
              <a:pathLst>
                <a:path h="177800" w="24384000">
                  <a:moveTo>
                    <a:pt x="0" y="0"/>
                  </a:moveTo>
                  <a:lnTo>
                    <a:pt x="24384000" y="0"/>
                  </a:lnTo>
                  <a:lnTo>
                    <a:pt x="24384000" y="177800"/>
                  </a:lnTo>
                  <a:lnTo>
                    <a:pt x="0" y="177800"/>
                  </a:lnTo>
                  <a:close/>
                </a:path>
              </a:pathLst>
            </a:custGeom>
            <a:solidFill>
              <a:srgbClr val="0B1F3A"/>
            </a:solidFill>
          </p:spPr>
        </p:sp>
      </p:grpSp>
      <p:sp>
        <p:nvSpPr>
          <p:cNvPr name="TextBox 5" id="5"/>
          <p:cNvSpPr txBox="true"/>
          <p:nvPr/>
        </p:nvSpPr>
        <p:spPr>
          <a:xfrm rot="0">
            <a:off x="720090" y="598170"/>
            <a:ext cx="16962120" cy="790575"/>
          </a:xfrm>
          <a:prstGeom prst="rect">
            <a:avLst/>
          </a:prstGeom>
        </p:spPr>
        <p:txBody>
          <a:bodyPr anchor="t" rtlCol="false" tIns="0" lIns="0" bIns="0" rIns="0">
            <a:spAutoFit/>
          </a:bodyPr>
          <a:lstStyle/>
          <a:p>
            <a:pPr algn="l">
              <a:lnSpc>
                <a:spcPts val="6120"/>
              </a:lnSpc>
            </a:pPr>
            <a:r>
              <a:rPr lang="en-US" sz="5100" b="true">
                <a:solidFill>
                  <a:srgbClr val="0B1F3A"/>
                </a:solidFill>
                <a:latin typeface="League Spartan"/>
                <a:ea typeface="League Spartan"/>
                <a:cs typeface="League Spartan"/>
                <a:sym typeface="League Spartan"/>
              </a:rPr>
              <a:t>Per-class errors on Fashion-MNIST</a:t>
            </a:r>
          </a:p>
        </p:txBody>
      </p:sp>
      <p:sp>
        <p:nvSpPr>
          <p:cNvPr name="TextBox 6" id="6"/>
          <p:cNvSpPr txBox="true"/>
          <p:nvPr/>
        </p:nvSpPr>
        <p:spPr>
          <a:xfrm rot="0">
            <a:off x="853440" y="9742170"/>
            <a:ext cx="9046521" cy="361950"/>
          </a:xfrm>
          <a:prstGeom prst="rect">
            <a:avLst/>
          </a:prstGeom>
        </p:spPr>
        <p:txBody>
          <a:bodyPr anchor="t" rtlCol="false" tIns="0" lIns="0" bIns="0" rIns="0">
            <a:spAutoFit/>
          </a:bodyPr>
          <a:lstStyle/>
          <a:p>
            <a:pPr algn="l">
              <a:lnSpc>
                <a:spcPts val="2878"/>
              </a:lnSpc>
            </a:pPr>
            <a:r>
              <a:rPr lang="en-US" sz="2400" i="true">
                <a:solidFill>
                  <a:srgbClr val="64748B"/>
                </a:solidFill>
                <a:latin typeface="Inter Italics"/>
                <a:ea typeface="Inter Italics"/>
                <a:cs typeface="Inter Italics"/>
                <a:sym typeface="Inter Italics"/>
              </a:rPr>
              <a:t>Figure 10. Fashion-MNIST confusion matrices for all six models.</a:t>
            </a:r>
          </a:p>
        </p:txBody>
      </p:sp>
      <p:sp>
        <p:nvSpPr>
          <p:cNvPr name="TextBox 7" id="7"/>
          <p:cNvSpPr txBox="true"/>
          <p:nvPr/>
        </p:nvSpPr>
        <p:spPr>
          <a:xfrm rot="0">
            <a:off x="12854940" y="1703070"/>
            <a:ext cx="787747" cy="419075"/>
          </a:xfrm>
          <a:prstGeom prst="rect">
            <a:avLst/>
          </a:prstGeom>
        </p:spPr>
        <p:txBody>
          <a:bodyPr anchor="t" rtlCol="false" tIns="0" lIns="0" bIns="0" rIns="0">
            <a:spAutoFit/>
          </a:bodyPr>
          <a:lstStyle/>
          <a:p>
            <a:pPr algn="l">
              <a:lnSpc>
                <a:spcPts val="3358"/>
              </a:lnSpc>
            </a:pPr>
            <a:r>
              <a:rPr lang="en-US" sz="2799">
                <a:solidFill>
                  <a:srgbClr val="081E39"/>
                </a:solidFill>
                <a:latin typeface="Inter"/>
                <a:ea typeface="Inter"/>
                <a:cs typeface="Inter"/>
                <a:sym typeface="Inter"/>
              </a:rPr>
              <a:t>CNN</a:t>
            </a:r>
          </a:p>
        </p:txBody>
      </p:sp>
      <p:grpSp>
        <p:nvGrpSpPr>
          <p:cNvPr name="Group 8" id="8"/>
          <p:cNvGrpSpPr/>
          <p:nvPr/>
        </p:nvGrpSpPr>
        <p:grpSpPr>
          <a:xfrm rot="0">
            <a:off x="7165953" y="2095500"/>
            <a:ext cx="3956114" cy="3448050"/>
            <a:chOff x="0" y="0"/>
            <a:chExt cx="5274818" cy="4597400"/>
          </a:xfrm>
        </p:grpSpPr>
        <p:sp>
          <p:nvSpPr>
            <p:cNvPr name="Freeform 9" id="9"/>
            <p:cNvSpPr/>
            <p:nvPr/>
          </p:nvSpPr>
          <p:spPr>
            <a:xfrm flipH="false" flipV="false" rot="0">
              <a:off x="0" y="0"/>
              <a:ext cx="5274818" cy="4597400"/>
            </a:xfrm>
            <a:custGeom>
              <a:avLst/>
              <a:gdLst/>
              <a:ahLst/>
              <a:cxnLst/>
              <a:rect r="r" b="b" t="t" l="l"/>
              <a:pathLst>
                <a:path h="4597400" w="5274818">
                  <a:moveTo>
                    <a:pt x="0" y="0"/>
                  </a:moveTo>
                  <a:lnTo>
                    <a:pt x="5274818" y="0"/>
                  </a:lnTo>
                  <a:lnTo>
                    <a:pt x="5274818" y="4597400"/>
                  </a:lnTo>
                  <a:lnTo>
                    <a:pt x="0" y="4597400"/>
                  </a:lnTo>
                  <a:lnTo>
                    <a:pt x="0" y="0"/>
                  </a:lnTo>
                  <a:close/>
                </a:path>
              </a:pathLst>
            </a:custGeom>
            <a:blipFill>
              <a:blip r:embed="rId5"/>
              <a:stretch>
                <a:fillRect l="-21" t="0" r="-21" b="0"/>
              </a:stretch>
            </a:blipFill>
          </p:spPr>
        </p:sp>
      </p:grpSp>
      <p:sp>
        <p:nvSpPr>
          <p:cNvPr name="TextBox 10" id="10"/>
          <p:cNvSpPr txBox="true"/>
          <p:nvPr/>
        </p:nvSpPr>
        <p:spPr>
          <a:xfrm rot="0">
            <a:off x="7139940" y="1703070"/>
            <a:ext cx="4389120" cy="419100"/>
          </a:xfrm>
          <a:prstGeom prst="rect">
            <a:avLst/>
          </a:prstGeom>
        </p:spPr>
        <p:txBody>
          <a:bodyPr anchor="t" rtlCol="false" tIns="0" lIns="0" bIns="0" rIns="0">
            <a:spAutoFit/>
          </a:bodyPr>
          <a:lstStyle/>
          <a:p>
            <a:pPr algn="l">
              <a:lnSpc>
                <a:spcPts val="3358"/>
              </a:lnSpc>
            </a:pPr>
            <a:r>
              <a:rPr lang="en-US" sz="2799">
                <a:solidFill>
                  <a:srgbClr val="081E39"/>
                </a:solidFill>
                <a:latin typeface="Inter"/>
                <a:ea typeface="Inter"/>
                <a:cs typeface="Inter"/>
                <a:sym typeface="Inter"/>
              </a:rPr>
              <a:t>MLP</a:t>
            </a:r>
          </a:p>
        </p:txBody>
      </p:sp>
      <p:grpSp>
        <p:nvGrpSpPr>
          <p:cNvPr name="Group 11" id="11"/>
          <p:cNvGrpSpPr/>
          <p:nvPr/>
        </p:nvGrpSpPr>
        <p:grpSpPr>
          <a:xfrm rot="0">
            <a:off x="1450953" y="2095500"/>
            <a:ext cx="3956114" cy="3448050"/>
            <a:chOff x="0" y="0"/>
            <a:chExt cx="5274818" cy="4597400"/>
          </a:xfrm>
        </p:grpSpPr>
        <p:sp>
          <p:nvSpPr>
            <p:cNvPr name="Freeform 12" id="12"/>
            <p:cNvSpPr/>
            <p:nvPr/>
          </p:nvSpPr>
          <p:spPr>
            <a:xfrm flipH="false" flipV="false" rot="0">
              <a:off x="0" y="0"/>
              <a:ext cx="5274818" cy="4597400"/>
            </a:xfrm>
            <a:custGeom>
              <a:avLst/>
              <a:gdLst/>
              <a:ahLst/>
              <a:cxnLst/>
              <a:rect r="r" b="b" t="t" l="l"/>
              <a:pathLst>
                <a:path h="4597400" w="5274818">
                  <a:moveTo>
                    <a:pt x="0" y="0"/>
                  </a:moveTo>
                  <a:lnTo>
                    <a:pt x="5274818" y="0"/>
                  </a:lnTo>
                  <a:lnTo>
                    <a:pt x="5274818" y="4597400"/>
                  </a:lnTo>
                  <a:lnTo>
                    <a:pt x="0" y="4597400"/>
                  </a:lnTo>
                  <a:lnTo>
                    <a:pt x="0" y="0"/>
                  </a:lnTo>
                  <a:close/>
                </a:path>
              </a:pathLst>
            </a:custGeom>
            <a:blipFill>
              <a:blip r:embed="rId6"/>
              <a:stretch>
                <a:fillRect l="-21" t="0" r="-21" b="0"/>
              </a:stretch>
            </a:blipFill>
          </p:spPr>
        </p:sp>
      </p:grpSp>
      <p:sp>
        <p:nvSpPr>
          <p:cNvPr name="TextBox 13" id="13"/>
          <p:cNvSpPr txBox="true"/>
          <p:nvPr/>
        </p:nvSpPr>
        <p:spPr>
          <a:xfrm rot="0">
            <a:off x="1424940" y="1703070"/>
            <a:ext cx="4389120" cy="419100"/>
          </a:xfrm>
          <a:prstGeom prst="rect">
            <a:avLst/>
          </a:prstGeom>
        </p:spPr>
        <p:txBody>
          <a:bodyPr anchor="t" rtlCol="false" tIns="0" lIns="0" bIns="0" rIns="0">
            <a:spAutoFit/>
          </a:bodyPr>
          <a:lstStyle/>
          <a:p>
            <a:pPr algn="l">
              <a:lnSpc>
                <a:spcPts val="3358"/>
              </a:lnSpc>
            </a:pPr>
            <a:r>
              <a:rPr lang="en-US" sz="2799">
                <a:solidFill>
                  <a:srgbClr val="081E39"/>
                </a:solidFill>
                <a:latin typeface="Inter"/>
                <a:ea typeface="Inter"/>
                <a:cs typeface="Inter"/>
                <a:sym typeface="Inter"/>
              </a:rPr>
              <a:t>Linear</a:t>
            </a:r>
          </a:p>
        </p:txBody>
      </p:sp>
      <p:grpSp>
        <p:nvGrpSpPr>
          <p:cNvPr name="Group 14" id="14"/>
          <p:cNvGrpSpPr/>
          <p:nvPr/>
        </p:nvGrpSpPr>
        <p:grpSpPr>
          <a:xfrm rot="0">
            <a:off x="1450953" y="6019800"/>
            <a:ext cx="3956114" cy="3448050"/>
            <a:chOff x="0" y="0"/>
            <a:chExt cx="5274818" cy="4597400"/>
          </a:xfrm>
        </p:grpSpPr>
        <p:sp>
          <p:nvSpPr>
            <p:cNvPr name="Freeform 15" id="15"/>
            <p:cNvSpPr/>
            <p:nvPr/>
          </p:nvSpPr>
          <p:spPr>
            <a:xfrm flipH="false" flipV="false" rot="0">
              <a:off x="0" y="0"/>
              <a:ext cx="5274818" cy="4597400"/>
            </a:xfrm>
            <a:custGeom>
              <a:avLst/>
              <a:gdLst/>
              <a:ahLst/>
              <a:cxnLst/>
              <a:rect r="r" b="b" t="t" l="l"/>
              <a:pathLst>
                <a:path h="4597400" w="5274818">
                  <a:moveTo>
                    <a:pt x="0" y="0"/>
                  </a:moveTo>
                  <a:lnTo>
                    <a:pt x="5274818" y="0"/>
                  </a:lnTo>
                  <a:lnTo>
                    <a:pt x="5274818" y="4597400"/>
                  </a:lnTo>
                  <a:lnTo>
                    <a:pt x="0" y="4597400"/>
                  </a:lnTo>
                  <a:lnTo>
                    <a:pt x="0" y="0"/>
                  </a:lnTo>
                  <a:close/>
                </a:path>
              </a:pathLst>
            </a:custGeom>
            <a:blipFill>
              <a:blip r:embed="rId7"/>
              <a:stretch>
                <a:fillRect l="-21" t="0" r="-21" b="0"/>
              </a:stretch>
            </a:blipFill>
          </p:spPr>
        </p:sp>
      </p:grpSp>
      <p:sp>
        <p:nvSpPr>
          <p:cNvPr name="TextBox 16" id="16"/>
          <p:cNvSpPr txBox="true"/>
          <p:nvPr/>
        </p:nvSpPr>
        <p:spPr>
          <a:xfrm rot="0">
            <a:off x="1424940" y="5627370"/>
            <a:ext cx="4389120" cy="419100"/>
          </a:xfrm>
          <a:prstGeom prst="rect">
            <a:avLst/>
          </a:prstGeom>
        </p:spPr>
        <p:txBody>
          <a:bodyPr anchor="t" rtlCol="false" tIns="0" lIns="0" bIns="0" rIns="0">
            <a:spAutoFit/>
          </a:bodyPr>
          <a:lstStyle/>
          <a:p>
            <a:pPr algn="l">
              <a:lnSpc>
                <a:spcPts val="3358"/>
              </a:lnSpc>
            </a:pPr>
            <a:r>
              <a:rPr lang="en-US" sz="2799">
                <a:solidFill>
                  <a:srgbClr val="081E39"/>
                </a:solidFill>
                <a:latin typeface="Inter"/>
                <a:ea typeface="Inter"/>
                <a:cs typeface="Inter"/>
                <a:sym typeface="Inter"/>
              </a:rPr>
              <a:t>GRU</a:t>
            </a:r>
          </a:p>
        </p:txBody>
      </p:sp>
      <p:grpSp>
        <p:nvGrpSpPr>
          <p:cNvPr name="Group 17" id="17"/>
          <p:cNvGrpSpPr/>
          <p:nvPr/>
        </p:nvGrpSpPr>
        <p:grpSpPr>
          <a:xfrm rot="0">
            <a:off x="12880953" y="6019800"/>
            <a:ext cx="3956114" cy="3448050"/>
            <a:chOff x="0" y="0"/>
            <a:chExt cx="5274818" cy="4597400"/>
          </a:xfrm>
        </p:grpSpPr>
        <p:sp>
          <p:nvSpPr>
            <p:cNvPr name="Freeform 18" id="18"/>
            <p:cNvSpPr/>
            <p:nvPr/>
          </p:nvSpPr>
          <p:spPr>
            <a:xfrm flipH="false" flipV="false" rot="0">
              <a:off x="0" y="0"/>
              <a:ext cx="5274818" cy="4597400"/>
            </a:xfrm>
            <a:custGeom>
              <a:avLst/>
              <a:gdLst/>
              <a:ahLst/>
              <a:cxnLst/>
              <a:rect r="r" b="b" t="t" l="l"/>
              <a:pathLst>
                <a:path h="4597400" w="5274818">
                  <a:moveTo>
                    <a:pt x="0" y="0"/>
                  </a:moveTo>
                  <a:lnTo>
                    <a:pt x="5274818" y="0"/>
                  </a:lnTo>
                  <a:lnTo>
                    <a:pt x="5274818" y="4597400"/>
                  </a:lnTo>
                  <a:lnTo>
                    <a:pt x="0" y="4597400"/>
                  </a:lnTo>
                  <a:lnTo>
                    <a:pt x="0" y="0"/>
                  </a:lnTo>
                  <a:close/>
                </a:path>
              </a:pathLst>
            </a:custGeom>
            <a:blipFill>
              <a:blip r:embed="rId8"/>
              <a:stretch>
                <a:fillRect l="-21" t="0" r="-21" b="0"/>
              </a:stretch>
            </a:blipFill>
          </p:spPr>
        </p:sp>
      </p:grpSp>
      <p:sp>
        <p:nvSpPr>
          <p:cNvPr name="TextBox 19" id="19"/>
          <p:cNvSpPr txBox="true"/>
          <p:nvPr/>
        </p:nvSpPr>
        <p:spPr>
          <a:xfrm rot="0">
            <a:off x="12854940" y="5627370"/>
            <a:ext cx="4389120" cy="419100"/>
          </a:xfrm>
          <a:prstGeom prst="rect">
            <a:avLst/>
          </a:prstGeom>
        </p:spPr>
        <p:txBody>
          <a:bodyPr anchor="t" rtlCol="false" tIns="0" lIns="0" bIns="0" rIns="0">
            <a:spAutoFit/>
          </a:bodyPr>
          <a:lstStyle/>
          <a:p>
            <a:pPr algn="l">
              <a:lnSpc>
                <a:spcPts val="3358"/>
              </a:lnSpc>
            </a:pPr>
            <a:r>
              <a:rPr lang="en-US" sz="2799">
                <a:solidFill>
                  <a:srgbClr val="081E39"/>
                </a:solidFill>
                <a:latin typeface="Inter"/>
                <a:ea typeface="Inter"/>
                <a:cs typeface="Inter"/>
                <a:sym typeface="Inter"/>
              </a:rPr>
              <a:t>Transformers</a:t>
            </a:r>
          </a:p>
        </p:txBody>
      </p:sp>
      <p:grpSp>
        <p:nvGrpSpPr>
          <p:cNvPr name="Group 20" id="20"/>
          <p:cNvGrpSpPr/>
          <p:nvPr/>
        </p:nvGrpSpPr>
        <p:grpSpPr>
          <a:xfrm rot="0">
            <a:off x="7165953" y="6019800"/>
            <a:ext cx="3956114" cy="3448050"/>
            <a:chOff x="0" y="0"/>
            <a:chExt cx="5274818" cy="4597400"/>
          </a:xfrm>
        </p:grpSpPr>
        <p:sp>
          <p:nvSpPr>
            <p:cNvPr name="Freeform 21" id="21"/>
            <p:cNvSpPr/>
            <p:nvPr/>
          </p:nvSpPr>
          <p:spPr>
            <a:xfrm flipH="false" flipV="false" rot="0">
              <a:off x="0" y="0"/>
              <a:ext cx="5274818" cy="4597400"/>
            </a:xfrm>
            <a:custGeom>
              <a:avLst/>
              <a:gdLst/>
              <a:ahLst/>
              <a:cxnLst/>
              <a:rect r="r" b="b" t="t" l="l"/>
              <a:pathLst>
                <a:path h="4597400" w="5274818">
                  <a:moveTo>
                    <a:pt x="0" y="0"/>
                  </a:moveTo>
                  <a:lnTo>
                    <a:pt x="5274818" y="0"/>
                  </a:lnTo>
                  <a:lnTo>
                    <a:pt x="5274818" y="4597400"/>
                  </a:lnTo>
                  <a:lnTo>
                    <a:pt x="0" y="4597400"/>
                  </a:lnTo>
                  <a:lnTo>
                    <a:pt x="0" y="0"/>
                  </a:lnTo>
                  <a:close/>
                </a:path>
              </a:pathLst>
            </a:custGeom>
            <a:blipFill>
              <a:blip r:embed="rId9"/>
              <a:stretch>
                <a:fillRect l="-21" t="0" r="-21" b="0"/>
              </a:stretch>
            </a:blipFill>
          </p:spPr>
        </p:sp>
      </p:grpSp>
      <p:sp>
        <p:nvSpPr>
          <p:cNvPr name="TextBox 22" id="22"/>
          <p:cNvSpPr txBox="true"/>
          <p:nvPr/>
        </p:nvSpPr>
        <p:spPr>
          <a:xfrm rot="0">
            <a:off x="7048500" y="5581650"/>
            <a:ext cx="969016" cy="419100"/>
          </a:xfrm>
          <a:prstGeom prst="rect">
            <a:avLst/>
          </a:prstGeom>
        </p:spPr>
        <p:txBody>
          <a:bodyPr anchor="t" rtlCol="false" tIns="0" lIns="0" bIns="0" rIns="0">
            <a:spAutoFit/>
          </a:bodyPr>
          <a:lstStyle/>
          <a:p>
            <a:pPr algn="l">
              <a:lnSpc>
                <a:spcPts val="3358"/>
              </a:lnSpc>
            </a:pPr>
            <a:r>
              <a:rPr lang="en-US" sz="2799">
                <a:solidFill>
                  <a:srgbClr val="081E39"/>
                </a:solidFill>
                <a:latin typeface="Inter"/>
                <a:ea typeface="Inter"/>
                <a:cs typeface="Inter"/>
                <a:sym typeface="Inter"/>
              </a:rPr>
              <a:t>LSTM</a:t>
            </a:r>
          </a:p>
        </p:txBody>
      </p:sp>
      <p:grpSp>
        <p:nvGrpSpPr>
          <p:cNvPr name="Group 23" id="23"/>
          <p:cNvGrpSpPr/>
          <p:nvPr/>
        </p:nvGrpSpPr>
        <p:grpSpPr>
          <a:xfrm rot="0">
            <a:off x="12880953" y="2095500"/>
            <a:ext cx="3956094" cy="3448050"/>
            <a:chOff x="0" y="0"/>
            <a:chExt cx="5274793" cy="4597400"/>
          </a:xfrm>
        </p:grpSpPr>
        <p:sp>
          <p:nvSpPr>
            <p:cNvPr name="Freeform 24" id="24"/>
            <p:cNvSpPr/>
            <p:nvPr/>
          </p:nvSpPr>
          <p:spPr>
            <a:xfrm flipH="false" flipV="false" rot="0">
              <a:off x="0" y="0"/>
              <a:ext cx="5274818" cy="4597400"/>
            </a:xfrm>
            <a:custGeom>
              <a:avLst/>
              <a:gdLst/>
              <a:ahLst/>
              <a:cxnLst/>
              <a:rect r="r" b="b" t="t" l="l"/>
              <a:pathLst>
                <a:path h="4597400" w="5274818">
                  <a:moveTo>
                    <a:pt x="0" y="0"/>
                  </a:moveTo>
                  <a:lnTo>
                    <a:pt x="5274818" y="0"/>
                  </a:lnTo>
                  <a:lnTo>
                    <a:pt x="5274818" y="4597400"/>
                  </a:lnTo>
                  <a:lnTo>
                    <a:pt x="0" y="4597400"/>
                  </a:lnTo>
                  <a:lnTo>
                    <a:pt x="0" y="0"/>
                  </a:lnTo>
                  <a:close/>
                </a:path>
              </a:pathLst>
            </a:custGeom>
            <a:blipFill>
              <a:blip r:embed="rId10"/>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AF4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208" t="0" r="-208" b="0"/>
            </a:stretch>
          </a:blipFill>
        </p:spPr>
      </p:sp>
      <p:grpSp>
        <p:nvGrpSpPr>
          <p:cNvPr name="Group 3" id="3"/>
          <p:cNvGrpSpPr/>
          <p:nvPr/>
        </p:nvGrpSpPr>
        <p:grpSpPr>
          <a:xfrm rot="0">
            <a:off x="0" y="0"/>
            <a:ext cx="18288000" cy="133350"/>
            <a:chOff x="0" y="0"/>
            <a:chExt cx="24384000" cy="177800"/>
          </a:xfrm>
        </p:grpSpPr>
        <p:sp>
          <p:nvSpPr>
            <p:cNvPr name="Freeform 4" id="4"/>
            <p:cNvSpPr/>
            <p:nvPr/>
          </p:nvSpPr>
          <p:spPr>
            <a:xfrm flipH="false" flipV="false" rot="0">
              <a:off x="0" y="0"/>
              <a:ext cx="24384000" cy="177800"/>
            </a:xfrm>
            <a:custGeom>
              <a:avLst/>
              <a:gdLst/>
              <a:ahLst/>
              <a:cxnLst/>
              <a:rect r="r" b="b" t="t" l="l"/>
              <a:pathLst>
                <a:path h="177800" w="24384000">
                  <a:moveTo>
                    <a:pt x="0" y="0"/>
                  </a:moveTo>
                  <a:lnTo>
                    <a:pt x="24384000" y="0"/>
                  </a:lnTo>
                  <a:lnTo>
                    <a:pt x="24384000" y="177800"/>
                  </a:lnTo>
                  <a:lnTo>
                    <a:pt x="0" y="177800"/>
                  </a:lnTo>
                  <a:close/>
                </a:path>
              </a:pathLst>
            </a:custGeom>
            <a:solidFill>
              <a:srgbClr val="0B1F3A"/>
            </a:solidFill>
          </p:spPr>
        </p:sp>
      </p:grpSp>
      <p:sp>
        <p:nvSpPr>
          <p:cNvPr name="TextBox 5" id="5"/>
          <p:cNvSpPr txBox="true"/>
          <p:nvPr/>
        </p:nvSpPr>
        <p:spPr>
          <a:xfrm rot="0">
            <a:off x="720090" y="598170"/>
            <a:ext cx="16962120" cy="790575"/>
          </a:xfrm>
          <a:prstGeom prst="rect">
            <a:avLst/>
          </a:prstGeom>
        </p:spPr>
        <p:txBody>
          <a:bodyPr anchor="t" rtlCol="false" tIns="0" lIns="0" bIns="0" rIns="0">
            <a:spAutoFit/>
          </a:bodyPr>
          <a:lstStyle/>
          <a:p>
            <a:pPr algn="l">
              <a:lnSpc>
                <a:spcPts val="6120"/>
              </a:lnSpc>
            </a:pPr>
            <a:r>
              <a:rPr lang="en-US" sz="5100" b="true">
                <a:solidFill>
                  <a:srgbClr val="0B1F3A"/>
                </a:solidFill>
                <a:latin typeface="League Spartan"/>
                <a:ea typeface="League Spartan"/>
                <a:cs typeface="League Spartan"/>
                <a:sym typeface="League Spartan"/>
              </a:rPr>
              <a:t>Predictions on the same images</a:t>
            </a:r>
          </a:p>
        </p:txBody>
      </p:sp>
      <p:sp>
        <p:nvSpPr>
          <p:cNvPr name="TextBox 6" id="6"/>
          <p:cNvSpPr txBox="true"/>
          <p:nvPr/>
        </p:nvSpPr>
        <p:spPr>
          <a:xfrm rot="0">
            <a:off x="720090" y="9113520"/>
            <a:ext cx="16581120" cy="407670"/>
          </a:xfrm>
          <a:prstGeom prst="rect">
            <a:avLst/>
          </a:prstGeom>
        </p:spPr>
        <p:txBody>
          <a:bodyPr anchor="t" rtlCol="false" tIns="0" lIns="0" bIns="0" rIns="0">
            <a:spAutoFit/>
          </a:bodyPr>
          <a:lstStyle/>
          <a:p>
            <a:pPr algn="l">
              <a:lnSpc>
                <a:spcPts val="3060"/>
              </a:lnSpc>
            </a:pPr>
            <a:r>
              <a:rPr lang="en-US" sz="2400" i="true">
                <a:solidFill>
                  <a:srgbClr val="64748B"/>
                </a:solidFill>
                <a:latin typeface="Inter Italics"/>
                <a:ea typeface="Inter Italics"/>
                <a:cs typeface="Inter Italics"/>
                <a:sym typeface="Inter Italics"/>
              </a:rPr>
              <a:t>Figure 11. Same test images across six models, selected from CNN spatial confidence categories.</a:t>
            </a:r>
          </a:p>
        </p:txBody>
      </p:sp>
      <p:grpSp>
        <p:nvGrpSpPr>
          <p:cNvPr name="Group 7" id="7"/>
          <p:cNvGrpSpPr/>
          <p:nvPr/>
        </p:nvGrpSpPr>
        <p:grpSpPr>
          <a:xfrm rot="0">
            <a:off x="629698" y="1554089"/>
            <a:ext cx="14438566" cy="7457227"/>
            <a:chOff x="0" y="0"/>
            <a:chExt cx="19251422" cy="9942970"/>
          </a:xfrm>
        </p:grpSpPr>
        <p:sp>
          <p:nvSpPr>
            <p:cNvPr name="Freeform 8" id="8"/>
            <p:cNvSpPr/>
            <p:nvPr/>
          </p:nvSpPr>
          <p:spPr>
            <a:xfrm flipH="false" flipV="false" rot="0">
              <a:off x="0" y="0"/>
              <a:ext cx="19251422" cy="9942957"/>
            </a:xfrm>
            <a:custGeom>
              <a:avLst/>
              <a:gdLst/>
              <a:ahLst/>
              <a:cxnLst/>
              <a:rect r="r" b="b" t="t" l="l"/>
              <a:pathLst>
                <a:path h="9942957" w="19251422">
                  <a:moveTo>
                    <a:pt x="0" y="0"/>
                  </a:moveTo>
                  <a:lnTo>
                    <a:pt x="19251422" y="0"/>
                  </a:lnTo>
                  <a:lnTo>
                    <a:pt x="19251422" y="9942957"/>
                  </a:lnTo>
                  <a:lnTo>
                    <a:pt x="0" y="9942957"/>
                  </a:lnTo>
                  <a:lnTo>
                    <a:pt x="0" y="0"/>
                  </a:lnTo>
                  <a:close/>
                </a:path>
              </a:pathLst>
            </a:custGeom>
            <a:blipFill>
              <a:blip r:embed="rId5"/>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AF4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208" t="0" r="-208" b="0"/>
            </a:stretch>
          </a:blipFill>
        </p:spPr>
      </p:sp>
      <p:grpSp>
        <p:nvGrpSpPr>
          <p:cNvPr name="Group 3" id="3"/>
          <p:cNvGrpSpPr/>
          <p:nvPr/>
        </p:nvGrpSpPr>
        <p:grpSpPr>
          <a:xfrm rot="0">
            <a:off x="0" y="0"/>
            <a:ext cx="18288000" cy="133350"/>
            <a:chOff x="0" y="0"/>
            <a:chExt cx="24384000" cy="177800"/>
          </a:xfrm>
        </p:grpSpPr>
        <p:sp>
          <p:nvSpPr>
            <p:cNvPr name="Freeform 4" id="4"/>
            <p:cNvSpPr/>
            <p:nvPr/>
          </p:nvSpPr>
          <p:spPr>
            <a:xfrm flipH="false" flipV="false" rot="0">
              <a:off x="0" y="0"/>
              <a:ext cx="24384000" cy="177800"/>
            </a:xfrm>
            <a:custGeom>
              <a:avLst/>
              <a:gdLst/>
              <a:ahLst/>
              <a:cxnLst/>
              <a:rect r="r" b="b" t="t" l="l"/>
              <a:pathLst>
                <a:path h="177800" w="24384000">
                  <a:moveTo>
                    <a:pt x="0" y="0"/>
                  </a:moveTo>
                  <a:lnTo>
                    <a:pt x="24384000" y="0"/>
                  </a:lnTo>
                  <a:lnTo>
                    <a:pt x="24384000" y="177800"/>
                  </a:lnTo>
                  <a:lnTo>
                    <a:pt x="0" y="177800"/>
                  </a:lnTo>
                  <a:close/>
                </a:path>
              </a:pathLst>
            </a:custGeom>
            <a:solidFill>
              <a:srgbClr val="0B1F3A"/>
            </a:solidFill>
          </p:spPr>
        </p:sp>
      </p:grpSp>
      <p:sp>
        <p:nvSpPr>
          <p:cNvPr name="TextBox 5" id="5"/>
          <p:cNvSpPr txBox="true"/>
          <p:nvPr/>
        </p:nvSpPr>
        <p:spPr>
          <a:xfrm rot="0">
            <a:off x="720090" y="598170"/>
            <a:ext cx="16962120" cy="790575"/>
          </a:xfrm>
          <a:prstGeom prst="rect">
            <a:avLst/>
          </a:prstGeom>
        </p:spPr>
        <p:txBody>
          <a:bodyPr anchor="t" rtlCol="false" tIns="0" lIns="0" bIns="0" rIns="0">
            <a:spAutoFit/>
          </a:bodyPr>
          <a:lstStyle/>
          <a:p>
            <a:pPr algn="l">
              <a:lnSpc>
                <a:spcPts val="6120"/>
              </a:lnSpc>
            </a:pPr>
            <a:r>
              <a:rPr lang="en-US" sz="5100" b="true">
                <a:solidFill>
                  <a:srgbClr val="0B1F3A"/>
                </a:solidFill>
                <a:latin typeface="League Spartan"/>
                <a:ea typeface="League Spartan"/>
                <a:cs typeface="League Spartan"/>
                <a:sym typeface="League Spartan"/>
              </a:rPr>
              <a:t>Accuracy and model size</a:t>
            </a:r>
          </a:p>
        </p:txBody>
      </p:sp>
      <p:graphicFrame>
        <p:nvGraphicFramePr>
          <p:cNvPr name="Table 6" id="6"/>
          <p:cNvGraphicFramePr>
            <a:graphicFrameLocks noGrp="true"/>
          </p:cNvGraphicFramePr>
          <p:nvPr/>
        </p:nvGraphicFramePr>
        <p:xfrm>
          <a:off x="762000" y="1759580"/>
          <a:ext cx="16725900" cy="5715000"/>
        </p:xfrm>
        <a:graphic>
          <a:graphicData uri="http://schemas.openxmlformats.org/drawingml/2006/table">
            <a:tbl>
              <a:tblPr/>
              <a:tblGrid>
                <a:gridCol w="5701366"/>
                <a:gridCol w="5512267"/>
                <a:gridCol w="5512267"/>
              </a:tblGrid>
              <a:tr h="1204474">
                <a:tc>
                  <a:txBody>
                    <a:bodyPr anchor="t" rtlCol="false"/>
                    <a:lstStyle/>
                    <a:p>
                      <a:pPr algn="l">
                        <a:lnSpc>
                          <a:spcPts val="4140"/>
                        </a:lnSpc>
                        <a:defRPr/>
                      </a:pPr>
                      <a:r>
                        <a:rPr lang="en-US" sz="3450" b="true">
                          <a:solidFill>
                            <a:srgbClr val="222222"/>
                          </a:solidFill>
                          <a:latin typeface="Arial Bold"/>
                          <a:ea typeface="Arial Bold"/>
                          <a:cs typeface="Arial Bold"/>
                          <a:sym typeface="Arial Bold"/>
                        </a:rPr>
                        <a:t>Model</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EDF5FB"/>
                    </a:solidFill>
                  </a:tcPr>
                </a:tc>
                <a:tc>
                  <a:txBody>
                    <a:bodyPr anchor="t" rtlCol="false"/>
                    <a:lstStyle/>
                    <a:p>
                      <a:pPr algn="l">
                        <a:lnSpc>
                          <a:spcPts val="4140"/>
                        </a:lnSpc>
                        <a:defRPr/>
                      </a:pPr>
                      <a:r>
                        <a:rPr lang="en-US" sz="3450" b="true">
                          <a:solidFill>
                            <a:srgbClr val="222222"/>
                          </a:solidFill>
                          <a:latin typeface="Arial Bold"/>
                          <a:ea typeface="Arial Bold"/>
                          <a:cs typeface="Arial Bold"/>
                          <a:sym typeface="Arial Bold"/>
                        </a:rPr>
                        <a:t>MNIST / Fashion</a:t>
                      </a:r>
                      <a:endParaRPr lang="en-US" sz="1100"/>
                    </a:p>
                    <a:p>
                      <a:pPr algn="l">
                        <a:lnSpc>
                          <a:spcPts val="4140"/>
                        </a:lnSpc>
                      </a:pPr>
                      <a:r>
                        <a:rPr lang="en-US" sz="3450" b="true">
                          <a:solidFill>
                            <a:srgbClr val="222222"/>
                          </a:solidFill>
                          <a:latin typeface="Arial Bold"/>
                          <a:ea typeface="Arial Bold"/>
                          <a:cs typeface="Arial Bold"/>
                          <a:sym typeface="Arial Bold"/>
                        </a:rPr>
                        <a:t>parameters</a:t>
                      </a:r>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EDF5FB"/>
                    </a:solidFill>
                  </a:tcPr>
                </a:tc>
                <a:tc>
                  <a:txBody>
                    <a:bodyPr anchor="t" rtlCol="false"/>
                    <a:lstStyle/>
                    <a:p>
                      <a:pPr algn="l">
                        <a:lnSpc>
                          <a:spcPts val="4140"/>
                        </a:lnSpc>
                        <a:defRPr/>
                      </a:pPr>
                      <a:r>
                        <a:rPr lang="en-US" sz="3450" b="true">
                          <a:solidFill>
                            <a:srgbClr val="222222"/>
                          </a:solidFill>
                          <a:latin typeface="Arial Bold"/>
                          <a:ea typeface="Arial Bold"/>
                          <a:cs typeface="Arial Bold"/>
                          <a:sym typeface="Arial Bold"/>
                        </a:rPr>
                        <a:t>CIFAR-10</a:t>
                      </a:r>
                      <a:endParaRPr lang="en-US" sz="1100"/>
                    </a:p>
                    <a:p>
                      <a:pPr algn="l">
                        <a:lnSpc>
                          <a:spcPts val="4140"/>
                        </a:lnSpc>
                      </a:pPr>
                      <a:r>
                        <a:rPr lang="en-US" sz="3450" b="true">
                          <a:solidFill>
                            <a:srgbClr val="222222"/>
                          </a:solidFill>
                          <a:latin typeface="Arial Bold"/>
                          <a:ea typeface="Arial Bold"/>
                          <a:cs typeface="Arial Bold"/>
                          <a:sym typeface="Arial Bold"/>
                        </a:rPr>
                        <a:t>parameters</a:t>
                      </a:r>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EDF5FB"/>
                    </a:solidFill>
                  </a:tcPr>
                </a:tc>
              </a:tr>
              <a:tr h="751754">
                <a:tc>
                  <a:txBody>
                    <a:bodyPr anchor="t" rtlCol="false"/>
                    <a:lstStyle/>
                    <a:p>
                      <a:pPr algn="l">
                        <a:lnSpc>
                          <a:spcPts val="4140"/>
                        </a:lnSpc>
                        <a:defRPr/>
                      </a:pPr>
                      <a:r>
                        <a:rPr lang="en-US" sz="3450">
                          <a:solidFill>
                            <a:srgbClr val="222222"/>
                          </a:solidFill>
                          <a:latin typeface="Arial"/>
                          <a:ea typeface="Arial"/>
                          <a:cs typeface="Arial"/>
                          <a:sym typeface="Arial"/>
                        </a:rPr>
                        <a:t>Linear</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4140"/>
                        </a:lnSpc>
                        <a:defRPr/>
                      </a:pPr>
                      <a:r>
                        <a:rPr lang="en-US" sz="3450">
                          <a:solidFill>
                            <a:srgbClr val="222222"/>
                          </a:solidFill>
                          <a:latin typeface="Arial"/>
                          <a:ea typeface="Arial"/>
                          <a:cs typeface="Arial"/>
                          <a:sym typeface="Arial"/>
                        </a:rPr>
                        <a:t>7,850</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4140"/>
                        </a:lnSpc>
                        <a:defRPr/>
                      </a:pPr>
                      <a:r>
                        <a:rPr lang="en-US" sz="3450">
                          <a:solidFill>
                            <a:srgbClr val="222222"/>
                          </a:solidFill>
                          <a:latin typeface="Arial"/>
                          <a:ea typeface="Arial"/>
                          <a:cs typeface="Arial"/>
                          <a:sym typeface="Arial"/>
                        </a:rPr>
                        <a:t>30,730</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r>
              <a:tr h="751754">
                <a:tc>
                  <a:txBody>
                    <a:bodyPr anchor="t" rtlCol="false"/>
                    <a:lstStyle/>
                    <a:p>
                      <a:pPr algn="l">
                        <a:lnSpc>
                          <a:spcPts val="4140"/>
                        </a:lnSpc>
                        <a:defRPr/>
                      </a:pPr>
                      <a:r>
                        <a:rPr lang="en-US" sz="3450">
                          <a:solidFill>
                            <a:srgbClr val="222222"/>
                          </a:solidFill>
                          <a:latin typeface="Arial"/>
                          <a:ea typeface="Arial"/>
                          <a:cs typeface="Arial"/>
                          <a:sym typeface="Arial"/>
                        </a:rPr>
                        <a:t>MLP</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4140"/>
                        </a:lnSpc>
                        <a:defRPr/>
                      </a:pPr>
                      <a:r>
                        <a:rPr lang="en-US" sz="3450">
                          <a:solidFill>
                            <a:srgbClr val="222222"/>
                          </a:solidFill>
                          <a:latin typeface="Arial"/>
                          <a:ea typeface="Arial"/>
                          <a:cs typeface="Arial"/>
                          <a:sym typeface="Arial"/>
                        </a:rPr>
                        <a:t>235,146</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4140"/>
                        </a:lnSpc>
                        <a:defRPr/>
                      </a:pPr>
                      <a:r>
                        <a:rPr lang="en-US" sz="3450">
                          <a:solidFill>
                            <a:srgbClr val="222222"/>
                          </a:solidFill>
                          <a:latin typeface="Arial"/>
                          <a:ea typeface="Arial"/>
                          <a:cs typeface="Arial"/>
                          <a:sym typeface="Arial"/>
                        </a:rPr>
                        <a:t>820,874</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r>
              <a:tr h="751754">
                <a:tc>
                  <a:txBody>
                    <a:bodyPr anchor="t" rtlCol="false"/>
                    <a:lstStyle/>
                    <a:p>
                      <a:pPr algn="l">
                        <a:lnSpc>
                          <a:spcPts val="4140"/>
                        </a:lnSpc>
                        <a:defRPr/>
                      </a:pPr>
                      <a:r>
                        <a:rPr lang="en-US" sz="3450">
                          <a:solidFill>
                            <a:srgbClr val="222222"/>
                          </a:solidFill>
                          <a:latin typeface="Arial"/>
                          <a:ea typeface="Arial"/>
                          <a:cs typeface="Arial"/>
                          <a:sym typeface="Arial"/>
                        </a:rPr>
                        <a:t>CNN</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4140"/>
                        </a:lnSpc>
                        <a:defRPr/>
                      </a:pPr>
                      <a:r>
                        <a:rPr lang="en-US" sz="3450">
                          <a:solidFill>
                            <a:srgbClr val="222222"/>
                          </a:solidFill>
                          <a:latin typeface="Arial"/>
                          <a:ea typeface="Arial"/>
                          <a:cs typeface="Arial"/>
                          <a:sym typeface="Arial"/>
                        </a:rPr>
                        <a:t>421,738</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4140"/>
                        </a:lnSpc>
                        <a:defRPr/>
                      </a:pPr>
                      <a:r>
                        <a:rPr lang="en-US" sz="3450">
                          <a:solidFill>
                            <a:srgbClr val="222222"/>
                          </a:solidFill>
                          <a:latin typeface="Arial"/>
                          <a:ea typeface="Arial"/>
                          <a:cs typeface="Arial"/>
                          <a:sym typeface="Arial"/>
                        </a:rPr>
                        <a:t>545,194</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r>
              <a:tr h="751754">
                <a:tc>
                  <a:txBody>
                    <a:bodyPr anchor="t" rtlCol="false"/>
                    <a:lstStyle/>
                    <a:p>
                      <a:pPr algn="l">
                        <a:lnSpc>
                          <a:spcPts val="4140"/>
                        </a:lnSpc>
                        <a:defRPr/>
                      </a:pPr>
                      <a:r>
                        <a:rPr lang="en-US" sz="3450">
                          <a:solidFill>
                            <a:srgbClr val="222222"/>
                          </a:solidFill>
                          <a:latin typeface="Arial"/>
                          <a:ea typeface="Arial"/>
                          <a:cs typeface="Arial"/>
                          <a:sym typeface="Arial"/>
                        </a:rPr>
                        <a:t>GRU</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4140"/>
                        </a:lnSpc>
                        <a:defRPr/>
                      </a:pPr>
                      <a:r>
                        <a:rPr lang="en-US" sz="3450">
                          <a:solidFill>
                            <a:srgbClr val="222222"/>
                          </a:solidFill>
                          <a:latin typeface="Arial"/>
                          <a:ea typeface="Arial"/>
                          <a:cs typeface="Arial"/>
                          <a:sym typeface="Arial"/>
                        </a:rPr>
                        <a:t>61,962</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4140"/>
                        </a:lnSpc>
                        <a:defRPr/>
                      </a:pPr>
                      <a:r>
                        <a:rPr lang="en-US" sz="3450">
                          <a:solidFill>
                            <a:srgbClr val="222222"/>
                          </a:solidFill>
                          <a:latin typeface="Arial"/>
                          <a:ea typeface="Arial"/>
                          <a:cs typeface="Arial"/>
                          <a:sym typeface="Arial"/>
                        </a:rPr>
                        <a:t>88,074</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r>
              <a:tr h="751754">
                <a:tc>
                  <a:txBody>
                    <a:bodyPr anchor="t" rtlCol="false"/>
                    <a:lstStyle/>
                    <a:p>
                      <a:pPr algn="l">
                        <a:lnSpc>
                          <a:spcPts val="3960"/>
                        </a:lnSpc>
                        <a:defRPr/>
                      </a:pPr>
                      <a:r>
                        <a:rPr lang="en-US" sz="3300">
                          <a:solidFill>
                            <a:srgbClr val="222222"/>
                          </a:solidFill>
                          <a:latin typeface="Arial"/>
                          <a:ea typeface="Arial"/>
                          <a:cs typeface="Arial"/>
                          <a:sym typeface="Arial"/>
                        </a:rPr>
                        <a:t>LSTM</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960"/>
                        </a:lnSpc>
                        <a:defRPr/>
                      </a:pPr>
                      <a:r>
                        <a:rPr lang="en-US" sz="3300">
                          <a:solidFill>
                            <a:srgbClr val="222222"/>
                          </a:solidFill>
                          <a:latin typeface="Arial"/>
                          <a:ea typeface="Arial"/>
                          <a:cs typeface="Arial"/>
                          <a:sym typeface="Arial"/>
                        </a:rPr>
                        <a:t>82,186</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3960"/>
                        </a:lnSpc>
                        <a:defRPr/>
                      </a:pPr>
                      <a:r>
                        <a:rPr lang="en-US" sz="3300">
                          <a:solidFill>
                            <a:srgbClr val="222222"/>
                          </a:solidFill>
                          <a:latin typeface="Arial"/>
                          <a:ea typeface="Arial"/>
                          <a:cs typeface="Arial"/>
                          <a:sym typeface="Arial"/>
                        </a:rPr>
                        <a:t>117,002</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r>
              <a:tr h="751754">
                <a:tc>
                  <a:txBody>
                    <a:bodyPr anchor="t" rtlCol="false"/>
                    <a:lstStyle/>
                    <a:p>
                      <a:pPr algn="l">
                        <a:lnSpc>
                          <a:spcPts val="4140"/>
                        </a:lnSpc>
                        <a:defRPr/>
                      </a:pPr>
                      <a:r>
                        <a:rPr lang="en-US" sz="3450">
                          <a:solidFill>
                            <a:srgbClr val="222222"/>
                          </a:solidFill>
                          <a:latin typeface="Arial"/>
                          <a:ea typeface="Arial"/>
                          <a:cs typeface="Arial"/>
                          <a:sym typeface="Arial"/>
                        </a:rPr>
                        <a:t>Transformer</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4140"/>
                        </a:lnSpc>
                        <a:defRPr/>
                      </a:pPr>
                      <a:r>
                        <a:rPr lang="en-US" sz="3450">
                          <a:solidFill>
                            <a:srgbClr val="222222"/>
                          </a:solidFill>
                          <a:latin typeface="Arial"/>
                          <a:ea typeface="Arial"/>
                          <a:cs typeface="Arial"/>
                          <a:sym typeface="Arial"/>
                        </a:rPr>
                        <a:t>1,191,050</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c>
                  <a:txBody>
                    <a:bodyPr anchor="t" rtlCol="false"/>
                    <a:lstStyle/>
                    <a:p>
                      <a:pPr algn="l">
                        <a:lnSpc>
                          <a:spcPts val="4140"/>
                        </a:lnSpc>
                        <a:defRPr/>
                      </a:pPr>
                      <a:r>
                        <a:rPr lang="en-US" sz="3450">
                          <a:solidFill>
                            <a:srgbClr val="222222"/>
                          </a:solidFill>
                          <a:latin typeface="Arial"/>
                          <a:ea typeface="Arial"/>
                          <a:cs typeface="Arial"/>
                          <a:sym typeface="Arial"/>
                        </a:rPr>
                        <a:t>1,199,754</a:t>
                      </a:r>
                      <a:endParaRPr lang="en-US" sz="1100"/>
                    </a:p>
                  </a:txBody>
                  <a:tcPr marL="91440" marR="91440" marT="91440" marB="91440" anchor="t">
                    <a:lnL cmpd="sng" algn="ctr" cap="flat" w="4763">
                      <a:solidFill>
                        <a:srgbClr val="D5D5D5"/>
                      </a:solidFill>
                      <a:prstDash val="solid"/>
                      <a:round/>
                      <a:headEnd type="none" w="med" len="med"/>
                      <a:tailEnd type="none" w="med" len="med"/>
                    </a:lnL>
                    <a:lnR cmpd="sng" algn="ctr" cap="flat" w="4763">
                      <a:solidFill>
                        <a:srgbClr val="D5D5D5"/>
                      </a:solidFill>
                      <a:prstDash val="solid"/>
                      <a:round/>
                      <a:headEnd type="none" w="med" len="med"/>
                      <a:tailEnd type="none" w="med" len="med"/>
                    </a:lnR>
                    <a:lnT cmpd="sng" algn="ctr" cap="flat" w="4763">
                      <a:solidFill>
                        <a:srgbClr val="D5D5D5"/>
                      </a:solidFill>
                      <a:prstDash val="solid"/>
                      <a:round/>
                      <a:headEnd type="none" w="med" len="med"/>
                      <a:tailEnd type="none" w="med" len="med"/>
                    </a:lnT>
                    <a:lnB cmpd="sng" algn="ctr" cap="flat" w="4763">
                      <a:solidFill>
                        <a:srgbClr val="D5D5D5"/>
                      </a:solidFill>
                      <a:prstDash val="solid"/>
                      <a:round/>
                      <a:headEnd type="none" w="med" len="med"/>
                      <a:tailEnd type="none" w="med" len="med"/>
                    </a:lnB>
                    <a:solidFill>
                      <a:srgbClr val="FFFFFF"/>
                    </a:solidFill>
                  </a:tcPr>
                </a:tc>
              </a:tr>
            </a:tbl>
          </a:graphicData>
        </a:graphic>
      </p:graphicFrame>
      <p:sp>
        <p:nvSpPr>
          <p:cNvPr name="TextBox 7" id="7"/>
          <p:cNvSpPr txBox="true"/>
          <p:nvPr/>
        </p:nvSpPr>
        <p:spPr>
          <a:xfrm rot="0">
            <a:off x="853440" y="8524875"/>
            <a:ext cx="4762500" cy="525780"/>
          </a:xfrm>
          <a:prstGeom prst="rect">
            <a:avLst/>
          </a:prstGeom>
        </p:spPr>
        <p:txBody>
          <a:bodyPr anchor="t" rtlCol="false" tIns="0" lIns="0" bIns="0" rIns="0">
            <a:spAutoFit/>
          </a:bodyPr>
          <a:lstStyle/>
          <a:p>
            <a:pPr algn="l">
              <a:lnSpc>
                <a:spcPts val="4140"/>
              </a:lnSpc>
            </a:pPr>
            <a:r>
              <a:rPr lang="en-US" sz="3450" b="true">
                <a:solidFill>
                  <a:srgbClr val="0E7490"/>
                </a:solidFill>
                <a:latin typeface="Inter Bold"/>
                <a:ea typeface="Inter Bold"/>
                <a:cs typeface="Inter Bold"/>
                <a:sym typeface="Inter Bold"/>
              </a:rPr>
              <a:t>Fashion-MNIST</a:t>
            </a:r>
          </a:p>
        </p:txBody>
      </p:sp>
      <p:sp>
        <p:nvSpPr>
          <p:cNvPr name="TextBox 8" id="8"/>
          <p:cNvSpPr txBox="true"/>
          <p:nvPr/>
        </p:nvSpPr>
        <p:spPr>
          <a:xfrm rot="0">
            <a:off x="853440" y="9077325"/>
            <a:ext cx="16581120" cy="1024890"/>
          </a:xfrm>
          <a:prstGeom prst="rect">
            <a:avLst/>
          </a:prstGeom>
        </p:spPr>
        <p:txBody>
          <a:bodyPr anchor="t" rtlCol="false" tIns="0" lIns="0" bIns="0" rIns="0">
            <a:spAutoFit/>
          </a:bodyPr>
          <a:lstStyle/>
          <a:p>
            <a:pPr algn="l">
              <a:lnSpc>
                <a:spcPts val="3959"/>
              </a:lnSpc>
            </a:pPr>
            <a:r>
              <a:rPr lang="en-US" sz="3150">
                <a:solidFill>
                  <a:srgbClr val="243447"/>
                </a:solidFill>
                <a:latin typeface="Inter"/>
                <a:ea typeface="Inter"/>
                <a:cs typeface="Inter"/>
                <a:sym typeface="Inter"/>
              </a:rPr>
              <a:t>CNN spatial: 92.59% with 421,738 parameters.</a:t>
            </a:r>
          </a:p>
          <a:p>
            <a:pPr algn="l">
              <a:lnSpc>
                <a:spcPts val="3959"/>
              </a:lnSpc>
            </a:pPr>
            <a:r>
              <a:rPr lang="en-US" sz="3150">
                <a:solidFill>
                  <a:srgbClr val="243447"/>
                </a:solidFill>
                <a:latin typeface="Inter"/>
                <a:ea typeface="Inter"/>
                <a:cs typeface="Inter"/>
                <a:sym typeface="Inter"/>
              </a:rPr>
              <a:t>Transformer: 90.43% with 1,191,050 parameters.</a:t>
            </a:r>
          </a:p>
        </p:txBody>
      </p:sp>
      <p:sp>
        <p:nvSpPr>
          <p:cNvPr name="TextBox 9" id="9"/>
          <p:cNvSpPr txBox="true"/>
          <p:nvPr/>
        </p:nvSpPr>
        <p:spPr>
          <a:xfrm rot="0">
            <a:off x="853440" y="7722870"/>
            <a:ext cx="16581120" cy="407670"/>
          </a:xfrm>
          <a:prstGeom prst="rect">
            <a:avLst/>
          </a:prstGeom>
        </p:spPr>
        <p:txBody>
          <a:bodyPr anchor="t" rtlCol="false" tIns="0" lIns="0" bIns="0" rIns="0">
            <a:spAutoFit/>
          </a:bodyPr>
          <a:lstStyle/>
          <a:p>
            <a:pPr algn="l">
              <a:lnSpc>
                <a:spcPts val="3060"/>
              </a:lnSpc>
            </a:pPr>
            <a:r>
              <a:rPr lang="en-US" sz="2400" i="true">
                <a:solidFill>
                  <a:srgbClr val="64748B"/>
                </a:solidFill>
                <a:latin typeface="Inter Italics"/>
                <a:ea typeface="Inter Italics"/>
                <a:cs typeface="Inter Italics"/>
                <a:sym typeface="Inter Italics"/>
              </a:rPr>
              <a:t>Table 2. Trainable parameter counts. CNN spatial on all three datasets.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AF4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208" t="0" r="-208" b="0"/>
            </a:stretch>
          </a:blipFill>
        </p:spPr>
      </p:sp>
      <p:grpSp>
        <p:nvGrpSpPr>
          <p:cNvPr name="Group 3" id="3"/>
          <p:cNvGrpSpPr/>
          <p:nvPr/>
        </p:nvGrpSpPr>
        <p:grpSpPr>
          <a:xfrm rot="0">
            <a:off x="0" y="0"/>
            <a:ext cx="18288000" cy="133350"/>
            <a:chOff x="0" y="0"/>
            <a:chExt cx="24384000" cy="177800"/>
          </a:xfrm>
        </p:grpSpPr>
        <p:sp>
          <p:nvSpPr>
            <p:cNvPr name="Freeform 4" id="4"/>
            <p:cNvSpPr/>
            <p:nvPr/>
          </p:nvSpPr>
          <p:spPr>
            <a:xfrm flipH="false" flipV="false" rot="0">
              <a:off x="0" y="0"/>
              <a:ext cx="24384000" cy="177800"/>
            </a:xfrm>
            <a:custGeom>
              <a:avLst/>
              <a:gdLst/>
              <a:ahLst/>
              <a:cxnLst/>
              <a:rect r="r" b="b" t="t" l="l"/>
              <a:pathLst>
                <a:path h="177800" w="24384000">
                  <a:moveTo>
                    <a:pt x="0" y="0"/>
                  </a:moveTo>
                  <a:lnTo>
                    <a:pt x="24384000" y="0"/>
                  </a:lnTo>
                  <a:lnTo>
                    <a:pt x="24384000" y="177800"/>
                  </a:lnTo>
                  <a:lnTo>
                    <a:pt x="0" y="177800"/>
                  </a:lnTo>
                  <a:close/>
                </a:path>
              </a:pathLst>
            </a:custGeom>
            <a:solidFill>
              <a:srgbClr val="0B1F3A"/>
            </a:solidFill>
          </p:spPr>
        </p:sp>
      </p:grpSp>
      <p:sp>
        <p:nvSpPr>
          <p:cNvPr name="TextBox 5" id="5"/>
          <p:cNvSpPr txBox="true"/>
          <p:nvPr/>
        </p:nvSpPr>
        <p:spPr>
          <a:xfrm rot="0">
            <a:off x="720090" y="598170"/>
            <a:ext cx="16962120" cy="790575"/>
          </a:xfrm>
          <a:prstGeom prst="rect">
            <a:avLst/>
          </a:prstGeom>
        </p:spPr>
        <p:txBody>
          <a:bodyPr anchor="t" rtlCol="false" tIns="0" lIns="0" bIns="0" rIns="0">
            <a:spAutoFit/>
          </a:bodyPr>
          <a:lstStyle/>
          <a:p>
            <a:pPr algn="l">
              <a:lnSpc>
                <a:spcPts val="6120"/>
              </a:lnSpc>
            </a:pPr>
            <a:r>
              <a:rPr lang="en-US" sz="5100" b="true">
                <a:solidFill>
                  <a:srgbClr val="0B1F3A"/>
                </a:solidFill>
                <a:latin typeface="League Spartan"/>
                <a:ea typeface="League Spartan"/>
                <a:cs typeface="League Spartan"/>
                <a:sym typeface="League Spartan"/>
              </a:rPr>
              <a:t>Conclusions and limits</a:t>
            </a:r>
          </a:p>
        </p:txBody>
      </p:sp>
      <p:sp>
        <p:nvSpPr>
          <p:cNvPr name="TextBox 6" id="6"/>
          <p:cNvSpPr txBox="true"/>
          <p:nvPr/>
        </p:nvSpPr>
        <p:spPr>
          <a:xfrm rot="0">
            <a:off x="853440" y="2141220"/>
            <a:ext cx="4179094" cy="571500"/>
          </a:xfrm>
          <a:prstGeom prst="rect">
            <a:avLst/>
          </a:prstGeom>
        </p:spPr>
        <p:txBody>
          <a:bodyPr anchor="t" rtlCol="false" tIns="0" lIns="0" bIns="0" rIns="0">
            <a:spAutoFit/>
          </a:bodyPr>
          <a:lstStyle/>
          <a:p>
            <a:pPr algn="l">
              <a:lnSpc>
                <a:spcPts val="4500"/>
              </a:lnSpc>
            </a:pPr>
            <a:r>
              <a:rPr lang="en-US" sz="3750" b="true">
                <a:solidFill>
                  <a:srgbClr val="0E7490"/>
                </a:solidFill>
                <a:latin typeface="League Spartan"/>
                <a:ea typeface="League Spartan"/>
                <a:cs typeface="League Spartan"/>
                <a:sym typeface="League Spartan"/>
              </a:rPr>
              <a:t>Observed results</a:t>
            </a:r>
          </a:p>
        </p:txBody>
      </p:sp>
      <p:sp>
        <p:nvSpPr>
          <p:cNvPr name="TextBox 7" id="7"/>
          <p:cNvSpPr txBox="true"/>
          <p:nvPr/>
        </p:nvSpPr>
        <p:spPr>
          <a:xfrm rot="0">
            <a:off x="853440" y="2979420"/>
            <a:ext cx="16390620" cy="1095375"/>
          </a:xfrm>
          <a:prstGeom prst="rect">
            <a:avLst/>
          </a:prstGeom>
        </p:spPr>
        <p:txBody>
          <a:bodyPr anchor="t" rtlCol="false" tIns="0" lIns="0" bIns="0" rIns="0">
            <a:spAutoFit/>
          </a:bodyPr>
          <a:lstStyle/>
          <a:p>
            <a:pPr algn="l">
              <a:lnSpc>
                <a:spcPts val="4320"/>
              </a:lnSpc>
            </a:pPr>
            <a:r>
              <a:rPr lang="en-US" sz="3600">
                <a:solidFill>
                  <a:srgbClr val="243447"/>
                </a:solidFill>
                <a:latin typeface="Inter"/>
                <a:ea typeface="Inter"/>
                <a:cs typeface="Inter"/>
                <a:sym typeface="Inter"/>
              </a:rPr>
              <a:t>CNN leads on all three datasets. Fashion-MNIST accuracy is 92.59%, ahead of Transformer by 2.16 percentage points.</a:t>
            </a:r>
          </a:p>
        </p:txBody>
      </p:sp>
      <p:sp>
        <p:nvSpPr>
          <p:cNvPr name="TextBox 8" id="8"/>
          <p:cNvSpPr txBox="true"/>
          <p:nvPr/>
        </p:nvSpPr>
        <p:spPr>
          <a:xfrm rot="0">
            <a:off x="853440" y="4808220"/>
            <a:ext cx="3532880" cy="571500"/>
          </a:xfrm>
          <a:prstGeom prst="rect">
            <a:avLst/>
          </a:prstGeom>
        </p:spPr>
        <p:txBody>
          <a:bodyPr anchor="t" rtlCol="false" tIns="0" lIns="0" bIns="0" rIns="0">
            <a:spAutoFit/>
          </a:bodyPr>
          <a:lstStyle/>
          <a:p>
            <a:pPr algn="l">
              <a:lnSpc>
                <a:spcPts val="4500"/>
              </a:lnSpc>
            </a:pPr>
            <a:r>
              <a:rPr lang="en-US" sz="3750" b="true">
                <a:solidFill>
                  <a:srgbClr val="0E7490"/>
                </a:solidFill>
                <a:latin typeface="League Spartan"/>
                <a:ea typeface="League Spartan"/>
                <a:cs typeface="League Spartan"/>
                <a:sym typeface="League Spartan"/>
              </a:rPr>
              <a:t>Error patterns</a:t>
            </a:r>
          </a:p>
        </p:txBody>
      </p:sp>
      <p:sp>
        <p:nvSpPr>
          <p:cNvPr name="TextBox 9" id="9"/>
          <p:cNvSpPr txBox="true"/>
          <p:nvPr/>
        </p:nvSpPr>
        <p:spPr>
          <a:xfrm rot="0">
            <a:off x="853440" y="5570220"/>
            <a:ext cx="16390620" cy="1095375"/>
          </a:xfrm>
          <a:prstGeom prst="rect">
            <a:avLst/>
          </a:prstGeom>
        </p:spPr>
        <p:txBody>
          <a:bodyPr anchor="t" rtlCol="false" tIns="0" lIns="0" bIns="0" rIns="0">
            <a:spAutoFit/>
          </a:bodyPr>
          <a:lstStyle/>
          <a:p>
            <a:pPr algn="l">
              <a:lnSpc>
                <a:spcPts val="4320"/>
              </a:lnSpc>
            </a:pPr>
            <a:r>
              <a:rPr lang="en-US" sz="3600">
                <a:solidFill>
                  <a:srgbClr val="243447"/>
                </a:solidFill>
                <a:latin typeface="Inter"/>
                <a:ea typeface="Inter"/>
                <a:cs typeface="Inter"/>
                <a:sym typeface="Inter"/>
              </a:rPr>
              <a:t>CNN improves all ten class recalls over MLP. Shirt remains hardest at 79.50%, with frequent T-shirt/Shirt confusion.</a:t>
            </a:r>
          </a:p>
        </p:txBody>
      </p:sp>
      <p:sp>
        <p:nvSpPr>
          <p:cNvPr name="TextBox 10" id="10"/>
          <p:cNvSpPr txBox="true"/>
          <p:nvPr/>
        </p:nvSpPr>
        <p:spPr>
          <a:xfrm rot="0">
            <a:off x="853440" y="7303770"/>
            <a:ext cx="6756644" cy="571500"/>
          </a:xfrm>
          <a:prstGeom prst="rect">
            <a:avLst/>
          </a:prstGeom>
        </p:spPr>
        <p:txBody>
          <a:bodyPr anchor="t" rtlCol="false" tIns="0" lIns="0" bIns="0" rIns="0">
            <a:spAutoFit/>
          </a:bodyPr>
          <a:lstStyle/>
          <a:p>
            <a:pPr algn="l">
              <a:lnSpc>
                <a:spcPts val="4500"/>
              </a:lnSpc>
            </a:pPr>
            <a:r>
              <a:rPr lang="en-US" sz="3750" b="true">
                <a:solidFill>
                  <a:srgbClr val="0E7490"/>
                </a:solidFill>
                <a:latin typeface="League Spartan"/>
                <a:ea typeface="League Spartan"/>
                <a:cs typeface="League Spartan"/>
                <a:sym typeface="League Spartan"/>
              </a:rPr>
              <a:t>Limits and next experiment</a:t>
            </a:r>
          </a:p>
        </p:txBody>
      </p:sp>
      <p:sp>
        <p:nvSpPr>
          <p:cNvPr name="TextBox 11" id="11"/>
          <p:cNvSpPr txBox="true"/>
          <p:nvPr/>
        </p:nvSpPr>
        <p:spPr>
          <a:xfrm rot="0">
            <a:off x="853440" y="8065770"/>
            <a:ext cx="16390620" cy="1106805"/>
          </a:xfrm>
          <a:prstGeom prst="rect">
            <a:avLst/>
          </a:prstGeom>
        </p:spPr>
        <p:txBody>
          <a:bodyPr anchor="t" rtlCol="false" tIns="0" lIns="0" bIns="0" rIns="0">
            <a:spAutoFit/>
          </a:bodyPr>
          <a:lstStyle/>
          <a:p>
            <a:pPr algn="l">
              <a:lnSpc>
                <a:spcPts val="4320"/>
              </a:lnSpc>
            </a:pPr>
            <a:r>
              <a:rPr lang="en-US" sz="3600">
                <a:solidFill>
                  <a:srgbClr val="243447"/>
                </a:solidFill>
                <a:latin typeface="Inter"/>
                <a:ea typeface="Inter"/>
                <a:cs typeface="Inter"/>
                <a:sym typeface="Inter"/>
              </a:rPr>
              <a:t>These results use one seed. Repeat across seeds and compare CNN heads under the same training environment.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AF4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208" t="0" r="-208" b="0"/>
            </a:stretch>
          </a:blipFill>
        </p:spPr>
      </p:sp>
      <p:grpSp>
        <p:nvGrpSpPr>
          <p:cNvPr name="Group 3" id="3"/>
          <p:cNvGrpSpPr/>
          <p:nvPr/>
        </p:nvGrpSpPr>
        <p:grpSpPr>
          <a:xfrm rot="0">
            <a:off x="0" y="0"/>
            <a:ext cx="18288000" cy="133350"/>
            <a:chOff x="0" y="0"/>
            <a:chExt cx="24384000" cy="177800"/>
          </a:xfrm>
        </p:grpSpPr>
        <p:sp>
          <p:nvSpPr>
            <p:cNvPr name="Freeform 4" id="4"/>
            <p:cNvSpPr/>
            <p:nvPr/>
          </p:nvSpPr>
          <p:spPr>
            <a:xfrm flipH="false" flipV="false" rot="0">
              <a:off x="0" y="0"/>
              <a:ext cx="24384000" cy="177800"/>
            </a:xfrm>
            <a:custGeom>
              <a:avLst/>
              <a:gdLst/>
              <a:ahLst/>
              <a:cxnLst/>
              <a:rect r="r" b="b" t="t" l="l"/>
              <a:pathLst>
                <a:path h="177800" w="24384000">
                  <a:moveTo>
                    <a:pt x="0" y="0"/>
                  </a:moveTo>
                  <a:lnTo>
                    <a:pt x="24384000" y="0"/>
                  </a:lnTo>
                  <a:lnTo>
                    <a:pt x="24384000" y="177800"/>
                  </a:lnTo>
                  <a:lnTo>
                    <a:pt x="0" y="177800"/>
                  </a:lnTo>
                  <a:close/>
                </a:path>
              </a:pathLst>
            </a:custGeom>
            <a:solidFill>
              <a:srgbClr val="0B1F3A"/>
            </a:solidFill>
          </p:spPr>
        </p:sp>
      </p:grpSp>
      <p:sp>
        <p:nvSpPr>
          <p:cNvPr name="TextBox 5" id="5"/>
          <p:cNvSpPr txBox="true"/>
          <p:nvPr/>
        </p:nvSpPr>
        <p:spPr>
          <a:xfrm rot="0">
            <a:off x="720090" y="342138"/>
            <a:ext cx="10240863" cy="781050"/>
          </a:xfrm>
          <a:prstGeom prst="rect">
            <a:avLst/>
          </a:prstGeom>
        </p:spPr>
        <p:txBody>
          <a:bodyPr anchor="t" rtlCol="false" tIns="0" lIns="0" bIns="0" rIns="0">
            <a:spAutoFit/>
          </a:bodyPr>
          <a:lstStyle/>
          <a:p>
            <a:pPr algn="l">
              <a:lnSpc>
                <a:spcPts val="6120"/>
              </a:lnSpc>
            </a:pPr>
            <a:r>
              <a:rPr lang="en-US" sz="5100" b="true">
                <a:solidFill>
                  <a:srgbClr val="0B1F3A"/>
                </a:solidFill>
                <a:latin typeface="League Spartan"/>
                <a:ea typeface="League Spartan"/>
                <a:cs typeface="League Spartan"/>
                <a:sym typeface="League Spartan"/>
              </a:rPr>
              <a:t>Other results: CNN predictions</a:t>
            </a:r>
          </a:p>
        </p:txBody>
      </p:sp>
      <p:grpSp>
        <p:nvGrpSpPr>
          <p:cNvPr name="Group 6" id="6"/>
          <p:cNvGrpSpPr/>
          <p:nvPr/>
        </p:nvGrpSpPr>
        <p:grpSpPr>
          <a:xfrm rot="0">
            <a:off x="3044800" y="4072319"/>
            <a:ext cx="12198496" cy="2684431"/>
            <a:chOff x="0" y="0"/>
            <a:chExt cx="16264661" cy="3579241"/>
          </a:xfrm>
        </p:grpSpPr>
        <p:sp>
          <p:nvSpPr>
            <p:cNvPr name="Freeform 7" id="7"/>
            <p:cNvSpPr/>
            <p:nvPr/>
          </p:nvSpPr>
          <p:spPr>
            <a:xfrm flipH="false" flipV="false" rot="0">
              <a:off x="0" y="0"/>
              <a:ext cx="16264637" cy="3579241"/>
            </a:xfrm>
            <a:custGeom>
              <a:avLst/>
              <a:gdLst/>
              <a:ahLst/>
              <a:cxnLst/>
              <a:rect r="r" b="b" t="t" l="l"/>
              <a:pathLst>
                <a:path h="3579241" w="16264637">
                  <a:moveTo>
                    <a:pt x="0" y="0"/>
                  </a:moveTo>
                  <a:lnTo>
                    <a:pt x="16264637" y="0"/>
                  </a:lnTo>
                  <a:lnTo>
                    <a:pt x="16264637" y="3579241"/>
                  </a:lnTo>
                  <a:lnTo>
                    <a:pt x="0" y="3579241"/>
                  </a:lnTo>
                  <a:lnTo>
                    <a:pt x="0" y="0"/>
                  </a:lnTo>
                  <a:close/>
                </a:path>
              </a:pathLst>
            </a:custGeom>
            <a:blipFill>
              <a:blip r:embed="rId5"/>
              <a:stretch>
                <a:fillRect l="0" t="0" r="0" b="0"/>
              </a:stretch>
            </a:blipFill>
          </p:spPr>
        </p:sp>
      </p:grpSp>
      <p:grpSp>
        <p:nvGrpSpPr>
          <p:cNvPr name="Group 8" id="8"/>
          <p:cNvGrpSpPr/>
          <p:nvPr/>
        </p:nvGrpSpPr>
        <p:grpSpPr>
          <a:xfrm rot="0">
            <a:off x="3044800" y="6974396"/>
            <a:ext cx="12198496" cy="2684431"/>
            <a:chOff x="0" y="0"/>
            <a:chExt cx="16264661" cy="3579241"/>
          </a:xfrm>
        </p:grpSpPr>
        <p:sp>
          <p:nvSpPr>
            <p:cNvPr name="Freeform 9" id="9"/>
            <p:cNvSpPr/>
            <p:nvPr/>
          </p:nvSpPr>
          <p:spPr>
            <a:xfrm flipH="false" flipV="false" rot="0">
              <a:off x="0" y="0"/>
              <a:ext cx="16264637" cy="3579241"/>
            </a:xfrm>
            <a:custGeom>
              <a:avLst/>
              <a:gdLst/>
              <a:ahLst/>
              <a:cxnLst/>
              <a:rect r="r" b="b" t="t" l="l"/>
              <a:pathLst>
                <a:path h="3579241" w="16264637">
                  <a:moveTo>
                    <a:pt x="0" y="0"/>
                  </a:moveTo>
                  <a:lnTo>
                    <a:pt x="16264637" y="0"/>
                  </a:lnTo>
                  <a:lnTo>
                    <a:pt x="16264637" y="3579241"/>
                  </a:lnTo>
                  <a:lnTo>
                    <a:pt x="0" y="3579241"/>
                  </a:lnTo>
                  <a:lnTo>
                    <a:pt x="0" y="0"/>
                  </a:lnTo>
                  <a:close/>
                </a:path>
              </a:pathLst>
            </a:custGeom>
            <a:blipFill>
              <a:blip r:embed="rId6"/>
              <a:stretch>
                <a:fillRect l="0" t="0" r="0" b="0"/>
              </a:stretch>
            </a:blipFill>
          </p:spPr>
        </p:sp>
      </p:grpSp>
      <p:grpSp>
        <p:nvGrpSpPr>
          <p:cNvPr name="Group 10" id="10"/>
          <p:cNvGrpSpPr/>
          <p:nvPr/>
        </p:nvGrpSpPr>
        <p:grpSpPr>
          <a:xfrm rot="0">
            <a:off x="3044295" y="1172718"/>
            <a:ext cx="12199496" cy="2681859"/>
            <a:chOff x="0" y="0"/>
            <a:chExt cx="16265995" cy="3575812"/>
          </a:xfrm>
        </p:grpSpPr>
        <p:sp>
          <p:nvSpPr>
            <p:cNvPr name="Freeform 11" id="11"/>
            <p:cNvSpPr/>
            <p:nvPr/>
          </p:nvSpPr>
          <p:spPr>
            <a:xfrm flipH="false" flipV="false" rot="0">
              <a:off x="0" y="0"/>
              <a:ext cx="16266033" cy="3575812"/>
            </a:xfrm>
            <a:custGeom>
              <a:avLst/>
              <a:gdLst/>
              <a:ahLst/>
              <a:cxnLst/>
              <a:rect r="r" b="b" t="t" l="l"/>
              <a:pathLst>
                <a:path h="3575812" w="16266033">
                  <a:moveTo>
                    <a:pt x="0" y="0"/>
                  </a:moveTo>
                  <a:lnTo>
                    <a:pt x="16266033" y="0"/>
                  </a:lnTo>
                  <a:lnTo>
                    <a:pt x="16266033" y="3575812"/>
                  </a:lnTo>
                  <a:lnTo>
                    <a:pt x="0" y="3575812"/>
                  </a:lnTo>
                  <a:lnTo>
                    <a:pt x="0" y="0"/>
                  </a:lnTo>
                  <a:close/>
                </a:path>
              </a:pathLst>
            </a:custGeom>
            <a:blipFill>
              <a:blip r:embed="rId7"/>
              <a:stretch>
                <a:fillRect l="0" t="0" r="0"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AF4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223" t="0" r="-223" b="0"/>
            </a:stretch>
          </a:blipFill>
        </p:spPr>
      </p:sp>
      <p:grpSp>
        <p:nvGrpSpPr>
          <p:cNvPr name="Group 3" id="3"/>
          <p:cNvGrpSpPr/>
          <p:nvPr/>
        </p:nvGrpSpPr>
        <p:grpSpPr>
          <a:xfrm rot="0">
            <a:off x="0" y="0"/>
            <a:ext cx="18288000" cy="133350"/>
            <a:chOff x="0" y="0"/>
            <a:chExt cx="24384000" cy="177800"/>
          </a:xfrm>
        </p:grpSpPr>
        <p:sp>
          <p:nvSpPr>
            <p:cNvPr name="Freeform 4" id="4"/>
            <p:cNvSpPr/>
            <p:nvPr/>
          </p:nvSpPr>
          <p:spPr>
            <a:xfrm flipH="false" flipV="false" rot="0">
              <a:off x="0" y="0"/>
              <a:ext cx="24384000" cy="177800"/>
            </a:xfrm>
            <a:custGeom>
              <a:avLst/>
              <a:gdLst/>
              <a:ahLst/>
              <a:cxnLst/>
              <a:rect r="r" b="b" t="t" l="l"/>
              <a:pathLst>
                <a:path h="177800" w="24384000">
                  <a:moveTo>
                    <a:pt x="0" y="0"/>
                  </a:moveTo>
                  <a:lnTo>
                    <a:pt x="24384000" y="0"/>
                  </a:lnTo>
                  <a:lnTo>
                    <a:pt x="24384000" y="177800"/>
                  </a:lnTo>
                  <a:lnTo>
                    <a:pt x="0" y="177800"/>
                  </a:lnTo>
                  <a:close/>
                </a:path>
              </a:pathLst>
            </a:custGeom>
            <a:solidFill>
              <a:srgbClr val="0B1F3A"/>
            </a:solidFill>
          </p:spPr>
        </p:sp>
        <p:sp>
          <p:nvSpPr>
            <p:cNvPr name="TextBox 5" id="5"/>
            <p:cNvSpPr txBox="true"/>
            <p:nvPr/>
          </p:nvSpPr>
          <p:spPr>
            <a:xfrm>
              <a:off x="0" y="-38100"/>
              <a:ext cx="24384000" cy="2159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720090" y="351663"/>
            <a:ext cx="16962120" cy="781050"/>
          </a:xfrm>
          <a:prstGeom prst="rect">
            <a:avLst/>
          </a:prstGeom>
        </p:spPr>
        <p:txBody>
          <a:bodyPr anchor="t" rtlCol="false" tIns="0" lIns="0" bIns="0" rIns="0">
            <a:spAutoFit/>
          </a:bodyPr>
          <a:lstStyle/>
          <a:p>
            <a:pPr algn="l">
              <a:lnSpc>
                <a:spcPts val="6120"/>
              </a:lnSpc>
            </a:pPr>
            <a:r>
              <a:rPr lang="en-US" sz="5100" b="true">
                <a:solidFill>
                  <a:srgbClr val="0B1F3A"/>
                </a:solidFill>
                <a:latin typeface="League Spartan"/>
                <a:ea typeface="League Spartan"/>
                <a:cs typeface="League Spartan"/>
                <a:sym typeface="League Spartan"/>
              </a:rPr>
              <a:t>Other Dataset: Transformer on Cifar10</a:t>
            </a:r>
          </a:p>
        </p:txBody>
      </p:sp>
      <p:grpSp>
        <p:nvGrpSpPr>
          <p:cNvPr name="Group 7" id="7"/>
          <p:cNvGrpSpPr/>
          <p:nvPr/>
        </p:nvGrpSpPr>
        <p:grpSpPr>
          <a:xfrm rot="0">
            <a:off x="407946" y="1814198"/>
            <a:ext cx="7268947" cy="6326476"/>
            <a:chOff x="0" y="0"/>
            <a:chExt cx="9691929" cy="8435302"/>
          </a:xfrm>
        </p:grpSpPr>
        <p:sp>
          <p:nvSpPr>
            <p:cNvPr name="Freeform 8" id="8"/>
            <p:cNvSpPr/>
            <p:nvPr/>
          </p:nvSpPr>
          <p:spPr>
            <a:xfrm flipH="false" flipV="false" rot="0">
              <a:off x="0" y="0"/>
              <a:ext cx="9691878" cy="8435340"/>
            </a:xfrm>
            <a:custGeom>
              <a:avLst/>
              <a:gdLst/>
              <a:ahLst/>
              <a:cxnLst/>
              <a:rect r="r" b="b" t="t" l="l"/>
              <a:pathLst>
                <a:path h="8435340" w="9691878">
                  <a:moveTo>
                    <a:pt x="0" y="0"/>
                  </a:moveTo>
                  <a:lnTo>
                    <a:pt x="9691878" y="0"/>
                  </a:lnTo>
                  <a:lnTo>
                    <a:pt x="9691878" y="8435340"/>
                  </a:lnTo>
                  <a:lnTo>
                    <a:pt x="0" y="8435340"/>
                  </a:lnTo>
                  <a:lnTo>
                    <a:pt x="0" y="0"/>
                  </a:lnTo>
                  <a:close/>
                </a:path>
              </a:pathLst>
            </a:custGeom>
            <a:blipFill>
              <a:blip r:embed="rId5"/>
              <a:stretch>
                <a:fillRect l="0" t="0" r="0" b="0"/>
              </a:stretch>
            </a:blipFill>
          </p:spPr>
        </p:sp>
      </p:grpSp>
      <p:grpSp>
        <p:nvGrpSpPr>
          <p:cNvPr name="Group 9" id="9"/>
          <p:cNvGrpSpPr/>
          <p:nvPr/>
        </p:nvGrpSpPr>
        <p:grpSpPr>
          <a:xfrm rot="0">
            <a:off x="7683198" y="3701615"/>
            <a:ext cx="10085918" cy="2219535"/>
            <a:chOff x="0" y="0"/>
            <a:chExt cx="13447890" cy="2959379"/>
          </a:xfrm>
        </p:grpSpPr>
        <p:sp>
          <p:nvSpPr>
            <p:cNvPr name="Freeform 10" id="10"/>
            <p:cNvSpPr/>
            <p:nvPr/>
          </p:nvSpPr>
          <p:spPr>
            <a:xfrm flipH="false" flipV="false" rot="0">
              <a:off x="0" y="0"/>
              <a:ext cx="13447903" cy="2959354"/>
            </a:xfrm>
            <a:custGeom>
              <a:avLst/>
              <a:gdLst/>
              <a:ahLst/>
              <a:cxnLst/>
              <a:rect r="r" b="b" t="t" l="l"/>
              <a:pathLst>
                <a:path h="2959354" w="13447903">
                  <a:moveTo>
                    <a:pt x="0" y="0"/>
                  </a:moveTo>
                  <a:lnTo>
                    <a:pt x="13447903" y="0"/>
                  </a:lnTo>
                  <a:lnTo>
                    <a:pt x="13447903" y="2959354"/>
                  </a:lnTo>
                  <a:lnTo>
                    <a:pt x="0" y="2959354"/>
                  </a:lnTo>
                  <a:lnTo>
                    <a:pt x="0" y="0"/>
                  </a:lnTo>
                  <a:close/>
                </a:path>
              </a:pathLst>
            </a:custGeom>
            <a:blipFill>
              <a:blip r:embed="rId6"/>
              <a:stretch>
                <a:fillRect l="0" t="0" r="0" b="0"/>
              </a:stretch>
            </a:blipFill>
          </p:spPr>
        </p:sp>
      </p:grpSp>
      <p:grpSp>
        <p:nvGrpSpPr>
          <p:cNvPr name="Group 11" id="11"/>
          <p:cNvGrpSpPr/>
          <p:nvPr/>
        </p:nvGrpSpPr>
        <p:grpSpPr>
          <a:xfrm rot="0">
            <a:off x="7683208" y="1482090"/>
            <a:ext cx="10085918" cy="2219535"/>
            <a:chOff x="0" y="0"/>
            <a:chExt cx="13447890" cy="2959379"/>
          </a:xfrm>
        </p:grpSpPr>
        <p:sp>
          <p:nvSpPr>
            <p:cNvPr name="Freeform 12" id="12"/>
            <p:cNvSpPr/>
            <p:nvPr/>
          </p:nvSpPr>
          <p:spPr>
            <a:xfrm flipH="false" flipV="false" rot="0">
              <a:off x="0" y="0"/>
              <a:ext cx="13447903" cy="2959354"/>
            </a:xfrm>
            <a:custGeom>
              <a:avLst/>
              <a:gdLst/>
              <a:ahLst/>
              <a:cxnLst/>
              <a:rect r="r" b="b" t="t" l="l"/>
              <a:pathLst>
                <a:path h="2959354" w="13447903">
                  <a:moveTo>
                    <a:pt x="0" y="0"/>
                  </a:moveTo>
                  <a:lnTo>
                    <a:pt x="13447903" y="0"/>
                  </a:lnTo>
                  <a:lnTo>
                    <a:pt x="13447903" y="2959354"/>
                  </a:lnTo>
                  <a:lnTo>
                    <a:pt x="0" y="2959354"/>
                  </a:lnTo>
                  <a:lnTo>
                    <a:pt x="0" y="0"/>
                  </a:lnTo>
                  <a:close/>
                </a:path>
              </a:pathLst>
            </a:custGeom>
            <a:blipFill>
              <a:blip r:embed="rId7"/>
              <a:stretch>
                <a:fillRect l="0" t="0" r="0" b="0"/>
              </a:stretch>
            </a:blipFill>
          </p:spPr>
        </p:sp>
      </p:grpSp>
      <p:grpSp>
        <p:nvGrpSpPr>
          <p:cNvPr name="Group 13" id="13"/>
          <p:cNvGrpSpPr/>
          <p:nvPr/>
        </p:nvGrpSpPr>
        <p:grpSpPr>
          <a:xfrm rot="0">
            <a:off x="7683198" y="5921150"/>
            <a:ext cx="10085918" cy="2219535"/>
            <a:chOff x="0" y="0"/>
            <a:chExt cx="13447890" cy="2959379"/>
          </a:xfrm>
        </p:grpSpPr>
        <p:sp>
          <p:nvSpPr>
            <p:cNvPr name="Freeform 14" id="14"/>
            <p:cNvSpPr/>
            <p:nvPr/>
          </p:nvSpPr>
          <p:spPr>
            <a:xfrm flipH="false" flipV="false" rot="0">
              <a:off x="0" y="0"/>
              <a:ext cx="13447903" cy="2959354"/>
            </a:xfrm>
            <a:custGeom>
              <a:avLst/>
              <a:gdLst/>
              <a:ahLst/>
              <a:cxnLst/>
              <a:rect r="r" b="b" t="t" l="l"/>
              <a:pathLst>
                <a:path h="2959354" w="13447903">
                  <a:moveTo>
                    <a:pt x="0" y="0"/>
                  </a:moveTo>
                  <a:lnTo>
                    <a:pt x="13447903" y="0"/>
                  </a:lnTo>
                  <a:lnTo>
                    <a:pt x="13447903" y="2959354"/>
                  </a:lnTo>
                  <a:lnTo>
                    <a:pt x="0" y="2959354"/>
                  </a:lnTo>
                  <a:lnTo>
                    <a:pt x="0" y="0"/>
                  </a:lnTo>
                  <a:close/>
                </a:path>
              </a:pathLst>
            </a:custGeom>
            <a:blipFill>
              <a:blip r:embed="rId8"/>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223" t="0" r="-223" b="0"/>
            </a:stretch>
          </a:blipFill>
        </p:spPr>
      </p:sp>
      <p:sp>
        <p:nvSpPr>
          <p:cNvPr name="Freeform 4" id="4"/>
          <p:cNvSpPr/>
          <p:nvPr/>
        </p:nvSpPr>
        <p:spPr>
          <a:xfrm flipH="false" flipV="false" rot="0">
            <a:off x="0" y="0"/>
            <a:ext cx="18288000" cy="218640"/>
          </a:xfrm>
          <a:custGeom>
            <a:avLst/>
            <a:gdLst/>
            <a:ahLst/>
            <a:cxnLst/>
            <a:rect r="r" b="b" t="t" l="l"/>
            <a:pathLst>
              <a:path h="218640" w="18288000">
                <a:moveTo>
                  <a:pt x="0" y="0"/>
                </a:moveTo>
                <a:lnTo>
                  <a:pt x="18288000" y="0"/>
                </a:lnTo>
                <a:lnTo>
                  <a:pt x="18288000" y="218640"/>
                </a:lnTo>
                <a:lnTo>
                  <a:pt x="0" y="218640"/>
                </a:lnTo>
                <a:lnTo>
                  <a:pt x="0" y="0"/>
                </a:lnTo>
                <a:close/>
              </a:path>
            </a:pathLst>
          </a:custGeom>
          <a:blipFill>
            <a:blip r:embed="rId5"/>
            <a:stretch>
              <a:fillRect l="0" t="0" r="0" b="0"/>
            </a:stretch>
          </a:blipFill>
        </p:spPr>
      </p:sp>
      <p:sp>
        <p:nvSpPr>
          <p:cNvPr name="TextBox 5" id="5"/>
          <p:cNvSpPr txBox="true"/>
          <p:nvPr/>
        </p:nvSpPr>
        <p:spPr>
          <a:xfrm rot="0">
            <a:off x="3241082" y="3747206"/>
            <a:ext cx="12278455" cy="3021187"/>
          </a:xfrm>
          <a:prstGeom prst="rect">
            <a:avLst/>
          </a:prstGeom>
        </p:spPr>
        <p:txBody>
          <a:bodyPr anchor="t" rtlCol="false" tIns="0" lIns="0" bIns="0" rIns="0">
            <a:spAutoFit/>
          </a:bodyPr>
          <a:lstStyle/>
          <a:p>
            <a:pPr algn="ctr">
              <a:lnSpc>
                <a:spcPts val="11694"/>
              </a:lnSpc>
            </a:pPr>
            <a:r>
              <a:rPr lang="en-US" b="true" sz="11694" spc="-234">
                <a:solidFill>
                  <a:srgbClr val="081E39"/>
                </a:solidFill>
                <a:latin typeface="League Spartan"/>
                <a:ea typeface="League Spartan"/>
                <a:cs typeface="League Spartan"/>
                <a:sym typeface="League Spartan"/>
              </a:rPr>
              <a:t>Thank you for watching !</a:t>
            </a:r>
          </a:p>
        </p:txBody>
      </p:sp>
    </p:spTree>
  </p:cSld>
  <p:clrMapOvr>
    <a:masterClrMapping/>
  </p:clrMapOvr>
  <p:transition spd="slow">
    <p:cover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DAHZQ8AJpYo</dc:identifier>
  <dcterms:modified xsi:type="dcterms:W3CDTF">2011-08-01T06:04:30Z</dcterms:modified>
  <cp:revision>1</cp:revision>
  <dc:title>Placeholder_A1_Slide.pptx</dc:title>
</cp:coreProperties>
</file>